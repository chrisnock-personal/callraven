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88825"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16446E2-C9BA-414B-828C-1C29E73E5B5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120" y="273600"/>
            <a:ext cx="1096920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a:t>
            </a:r>
            <a:r>
              <a:rPr lang="en-US" sz="4400" b="0" u="none" strike="noStrike">
                <a:solidFill>
                  <a:schemeClr val="dk1"/>
                </a:solidFill>
                <a:effectLst/>
                <a:uFillTx/>
                <a:latin typeface="Calibri"/>
              </a:rPr>
              <a:t>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120" y="1604520"/>
            <a:ext cx="1096920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a:t>
            </a:r>
            <a:r>
              <a:rPr lang="en-US" sz="2000" b="1" u="none" strike="noStrike">
                <a:solidFill>
                  <a:schemeClr val="dk1"/>
                </a:solidFill>
                <a:effectLst/>
                <a:uFillTx/>
                <a:latin typeface="Calibri"/>
              </a:rPr>
              <a:t>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EBFAF4A-B3CA-4AB5-A4E0-C199708DEE7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a:t>
            </a:r>
            <a:r>
              <a:rPr lang="en-US" sz="2000" b="1" u="none" strike="noStrike">
                <a:solidFill>
                  <a:schemeClr val="dk1"/>
                </a:solidFill>
                <a:effectLst/>
                <a:uFillTx/>
                <a:latin typeface="Calibri"/>
              </a:rPr>
              <a:t>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055D70E-DFB7-4ECE-81CF-003823DC4331}"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469803A-4AA5-4BAC-B5A9-A497B76D54C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953299E-4C57-48C1-96F2-A50FFB2423F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1C342D8F-8617-4D72-93D3-F1C6106C013E}"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5CA9C89-895E-4CB5-AC08-2E78A388D68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CD86C59-5448-4EEC-92FB-511F5A3E197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C7612BD-DF0C-4D76-A324-5D987F5B5D1C}"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9B249E5-7D78-454C-9C7D-786F0B5565A6}"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0B2A591-19AF-4979-8C61-31AB238456F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61" name="Rectangle 1"/>
          <p:cNvSpPr/>
          <p:nvPr/>
        </p:nvSpPr>
        <p:spPr>
          <a:xfrm>
            <a:off x="0" y="0"/>
            <a:ext cx="5028480" cy="68572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Rectangle 2"/>
          <p:cNvSpPr/>
          <p:nvPr/>
        </p:nvSpPr>
        <p:spPr>
          <a:xfrm>
            <a:off x="5029200" y="0"/>
            <a:ext cx="54000" cy="68572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63" name="Rectangle 3"/>
          <p:cNvSpPr/>
          <p:nvPr/>
        </p:nvSpPr>
        <p:spPr>
          <a:xfrm>
            <a:off x="640080" y="1463040"/>
            <a:ext cx="100512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 name="TextBox 4"/>
          <p:cNvSpPr/>
          <p:nvPr/>
        </p:nvSpPr>
        <p:spPr>
          <a:xfrm>
            <a:off x="658440" y="1490400"/>
            <a:ext cx="968400" cy="401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Bold"/>
              </a:rPr>
              <a:t>SIP</a:t>
            </a:r>
            <a:endParaRPr lang="en-GB" sz="2200" b="0" u="none" strike="noStrike">
              <a:solidFill>
                <a:srgbClr val="FFFFFF"/>
              </a:solidFill>
              <a:effectLst/>
              <a:uFillTx/>
              <a:latin typeface="Arial"/>
            </a:endParaRPr>
          </a:p>
        </p:txBody>
      </p:sp>
      <p:sp>
        <p:nvSpPr>
          <p:cNvPr id="65" name="TextBox 5"/>
          <p:cNvSpPr/>
          <p:nvPr/>
        </p:nvSpPr>
        <p:spPr>
          <a:xfrm>
            <a:off x="1755720" y="146304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Bold"/>
              </a:rPr>
              <a:t>Endpoint</a:t>
            </a:r>
            <a:endParaRPr lang="en-GB" sz="2800" b="0" u="none" strike="noStrike">
              <a:solidFill>
                <a:srgbClr val="FFFFFF"/>
              </a:solidFill>
              <a:effectLst/>
              <a:uFillTx/>
              <a:latin typeface="Arial"/>
            </a:endParaRPr>
          </a:p>
        </p:txBody>
      </p:sp>
      <p:sp>
        <p:nvSpPr>
          <p:cNvPr id="66" name="TextBox 6"/>
          <p:cNvSpPr/>
          <p:nvPr/>
        </p:nvSpPr>
        <p:spPr>
          <a:xfrm>
            <a:off x="640080" y="2148840"/>
            <a:ext cx="411408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00D4FF"/>
                </a:solidFill>
                <a:effectLst/>
                <a:uFillTx/>
                <a:latin typeface="Calibri"/>
              </a:rPr>
              <a:t>Experimental Containerized SIP Softphone</a:t>
            </a:r>
            <a:endParaRPr lang="en-GB" sz="1600" b="0" u="none" strike="noStrike">
              <a:solidFill>
                <a:srgbClr val="FFFFFF"/>
              </a:solidFill>
              <a:effectLst/>
              <a:uFillTx/>
              <a:latin typeface="Arial"/>
            </a:endParaRPr>
          </a:p>
        </p:txBody>
      </p:sp>
      <p:sp>
        <p:nvSpPr>
          <p:cNvPr id="67" name="TextBox 7"/>
          <p:cNvSpPr/>
          <p:nvPr/>
        </p:nvSpPr>
        <p:spPr>
          <a:xfrm>
            <a:off x="640080" y="2651760"/>
            <a:ext cx="10965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v1.0</a:t>
            </a:r>
            <a:endParaRPr lang="en-GB" sz="1200" b="0" u="none" strike="noStrike">
              <a:solidFill>
                <a:srgbClr val="FFFFFF"/>
              </a:solidFill>
              <a:effectLst/>
              <a:uFillTx/>
              <a:latin typeface="Arial"/>
            </a:endParaRPr>
          </a:p>
        </p:txBody>
      </p:sp>
      <p:sp>
        <p:nvSpPr>
          <p:cNvPr id="68" name="TextBox 8"/>
          <p:cNvSpPr/>
          <p:nvPr/>
        </p:nvSpPr>
        <p:spPr>
          <a:xfrm>
            <a:off x="640080" y="3108960"/>
            <a:ext cx="4114080" cy="1584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F0F4FF"/>
                </a:solidFill>
                <a:effectLst/>
                <a:uFillTx/>
                <a:latin typeface="Calibri"/>
              </a:rPr>
              <a:t>Full-featured SIP softphone built for</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engineers/home lab hobbyists</a:t>
            </a:r>
            <a:endParaRPr lang="en-GB" sz="1400" b="0" u="none" strike="noStrike">
              <a:solidFill>
                <a:srgbClr val="FFFFFF"/>
              </a:solidFill>
              <a:effectLst/>
              <a:uFillTx/>
              <a:latin typeface="Arial"/>
            </a:endParaRPr>
          </a:p>
          <a:p>
            <a:pPr defTabSz="457200">
              <a:lnSpc>
                <a:spcPct val="100000"/>
              </a:lnSpc>
            </a:pP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Containerized</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No audio hardware required.</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Fully headless-capable via REST API</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Fully functional Web UI</a:t>
            </a:r>
            <a:endParaRPr lang="en-GB" sz="1400" b="0" u="none" strike="noStrike">
              <a:solidFill>
                <a:srgbClr val="FFFFFF"/>
              </a:solidFill>
              <a:effectLst/>
              <a:uFillTx/>
              <a:latin typeface="Arial"/>
            </a:endParaRPr>
          </a:p>
        </p:txBody>
      </p:sp>
      <p:sp>
        <p:nvSpPr>
          <p:cNvPr id="69" name="TextBox 9"/>
          <p:cNvSpPr/>
          <p:nvPr/>
        </p:nvSpPr>
        <p:spPr>
          <a:xfrm>
            <a:off x="5577840" y="118872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00D4FF"/>
                </a:solidFill>
                <a:effectLst/>
                <a:uFillTx/>
                <a:latin typeface="Calibri Bold"/>
              </a:rPr>
              <a:t>24</a:t>
            </a:r>
            <a:endParaRPr lang="en-GB" sz="2800" b="0" u="none" strike="noStrike">
              <a:solidFill>
                <a:srgbClr val="FFFFFF"/>
              </a:solidFill>
              <a:effectLst/>
              <a:uFillTx/>
              <a:latin typeface="Arial"/>
            </a:endParaRPr>
          </a:p>
        </p:txBody>
      </p:sp>
      <p:sp>
        <p:nvSpPr>
          <p:cNvPr id="70" name="TextBox 10"/>
          <p:cNvSpPr/>
          <p:nvPr/>
        </p:nvSpPr>
        <p:spPr>
          <a:xfrm>
            <a:off x="5577840" y="169164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API Endpoints</a:t>
            </a:r>
            <a:endParaRPr lang="en-GB" sz="1100" b="0" u="none" strike="noStrike">
              <a:solidFill>
                <a:srgbClr val="FFFFFF"/>
              </a:solidFill>
              <a:effectLst/>
              <a:uFillTx/>
              <a:latin typeface="Arial"/>
            </a:endParaRPr>
          </a:p>
        </p:txBody>
      </p:sp>
      <p:sp>
        <p:nvSpPr>
          <p:cNvPr id="71" name="Rectangle 11"/>
          <p:cNvSpPr/>
          <p:nvPr/>
        </p:nvSpPr>
        <p:spPr>
          <a:xfrm>
            <a:off x="5577840" y="205740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2" name="TextBox 12"/>
          <p:cNvSpPr/>
          <p:nvPr/>
        </p:nvSpPr>
        <p:spPr>
          <a:xfrm>
            <a:off x="5577840" y="246888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G.722 · PCMU · PCMA</a:t>
            </a:r>
            <a:endParaRPr lang="en-GB" sz="1800" b="0" u="none" strike="noStrike">
              <a:solidFill>
                <a:srgbClr val="FFFFFF"/>
              </a:solidFill>
              <a:effectLst/>
              <a:uFillTx/>
              <a:latin typeface="Arial"/>
            </a:endParaRPr>
          </a:p>
        </p:txBody>
      </p:sp>
      <p:sp>
        <p:nvSpPr>
          <p:cNvPr id="73" name="TextBox 13"/>
          <p:cNvSpPr/>
          <p:nvPr/>
        </p:nvSpPr>
        <p:spPr>
          <a:xfrm>
            <a:off x="5577840" y="297180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Codecs</a:t>
            </a:r>
            <a:endParaRPr lang="en-GB" sz="1100" b="0" u="none" strike="noStrike">
              <a:solidFill>
                <a:srgbClr val="FFFFFF"/>
              </a:solidFill>
              <a:effectLst/>
              <a:uFillTx/>
              <a:latin typeface="Arial"/>
            </a:endParaRPr>
          </a:p>
        </p:txBody>
      </p:sp>
      <p:sp>
        <p:nvSpPr>
          <p:cNvPr id="74" name="Rectangle 14"/>
          <p:cNvSpPr/>
          <p:nvPr/>
        </p:nvSpPr>
        <p:spPr>
          <a:xfrm>
            <a:off x="5577840" y="333756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5" name="TextBox 15"/>
          <p:cNvSpPr/>
          <p:nvPr/>
        </p:nvSpPr>
        <p:spPr>
          <a:xfrm>
            <a:off x="5577840" y="374904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Docker / Podman</a:t>
            </a:r>
            <a:endParaRPr lang="en-GB" sz="1800" b="0" u="none" strike="noStrike">
              <a:solidFill>
                <a:srgbClr val="FFFFFF"/>
              </a:solidFill>
              <a:effectLst/>
              <a:uFillTx/>
              <a:latin typeface="Arial"/>
            </a:endParaRPr>
          </a:p>
        </p:txBody>
      </p:sp>
      <p:sp>
        <p:nvSpPr>
          <p:cNvPr id="76" name="TextBox 16"/>
          <p:cNvSpPr/>
          <p:nvPr/>
        </p:nvSpPr>
        <p:spPr>
          <a:xfrm>
            <a:off x="5577840" y="425196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Deployment</a:t>
            </a:r>
            <a:endParaRPr lang="en-GB" sz="1100" b="0" u="none" strike="noStrike">
              <a:solidFill>
                <a:srgbClr val="FFFFFF"/>
              </a:solidFill>
              <a:effectLst/>
              <a:uFillTx/>
              <a:latin typeface="Arial"/>
            </a:endParaRPr>
          </a:p>
        </p:txBody>
      </p:sp>
      <p:sp>
        <p:nvSpPr>
          <p:cNvPr id="77" name="Rectangle 17"/>
          <p:cNvSpPr/>
          <p:nvPr/>
        </p:nvSpPr>
        <p:spPr>
          <a:xfrm>
            <a:off x="5577840" y="461772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8" name="TextBox 18"/>
          <p:cNvSpPr/>
          <p:nvPr/>
        </p:nvSpPr>
        <p:spPr>
          <a:xfrm>
            <a:off x="5577840" y="502920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pcap + WAV per call</a:t>
            </a:r>
            <a:endParaRPr lang="en-GB" sz="1800" b="0" u="none" strike="noStrike">
              <a:solidFill>
                <a:srgbClr val="FFFFFF"/>
              </a:solidFill>
              <a:effectLst/>
              <a:uFillTx/>
              <a:latin typeface="Arial"/>
            </a:endParaRPr>
          </a:p>
        </p:txBody>
      </p:sp>
      <p:sp>
        <p:nvSpPr>
          <p:cNvPr id="79" name="TextBox 19"/>
          <p:cNvSpPr/>
          <p:nvPr/>
        </p:nvSpPr>
        <p:spPr>
          <a:xfrm>
            <a:off x="5577840" y="553212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a:t>
            </a:r>
            <a:endParaRPr lang="en-GB" sz="1100" b="0" u="none" strike="noStrike">
              <a:solidFill>
                <a:srgbClr val="FFFFFF"/>
              </a:solidFill>
              <a:effectLst/>
              <a:uFillTx/>
              <a:latin typeface="Arial"/>
            </a:endParaRPr>
          </a:p>
        </p:txBody>
      </p:sp>
      <p:sp>
        <p:nvSpPr>
          <p:cNvPr id="80" name="TextBox 20"/>
          <p:cNvSpPr/>
          <p:nvPr/>
        </p:nvSpPr>
        <p:spPr>
          <a:xfrm>
            <a:off x="5577840" y="6309360"/>
            <a:ext cx="62172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i="1" u="none" strike="noStrike">
                <a:solidFill>
                  <a:srgbClr val="94A3B8"/>
                </a:solidFill>
                <a:effectLst/>
                <a:uFillTx/>
                <a:latin typeface="Calibri"/>
              </a:rPr>
              <a:t>For Developers &amp; Engineers</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81" name="TextBox 1"/>
          <p:cNvSpPr/>
          <p:nvPr/>
        </p:nvSpPr>
        <p:spPr>
          <a:xfrm>
            <a:off x="548640" y="36576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Problem &amp; Use Cases</a:t>
            </a:r>
            <a:endParaRPr lang="en-GB" sz="3400" b="0" u="none" strike="noStrike">
              <a:solidFill>
                <a:srgbClr val="FFFFFF"/>
              </a:solidFill>
              <a:effectLst/>
              <a:uFillTx/>
              <a:latin typeface="Arial"/>
            </a:endParaRPr>
          </a:p>
        </p:txBody>
      </p:sp>
      <p:sp>
        <p:nvSpPr>
          <p:cNvPr id="82" name="Rectangle 2"/>
          <p:cNvSpPr/>
          <p:nvPr/>
        </p:nvSpPr>
        <p:spPr>
          <a:xfrm>
            <a:off x="548640" y="105156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83" name="TextBox 3"/>
          <p:cNvSpPr/>
          <p:nvPr/>
        </p:nvSpPr>
        <p:spPr>
          <a:xfrm>
            <a:off x="548640" y="1280160"/>
            <a:ext cx="50284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The Gap</a:t>
            </a:r>
            <a:endParaRPr lang="en-GB" sz="1800" b="0" u="none" strike="noStrike">
              <a:solidFill>
                <a:srgbClr val="FFFFFF"/>
              </a:solidFill>
              <a:effectLst/>
              <a:uFillTx/>
              <a:latin typeface="Arial"/>
            </a:endParaRPr>
          </a:p>
        </p:txBody>
      </p:sp>
      <p:sp>
        <p:nvSpPr>
          <p:cNvPr id="84" name="Rectangle 4"/>
          <p:cNvSpPr/>
          <p:nvPr/>
        </p:nvSpPr>
        <p:spPr>
          <a:xfrm>
            <a:off x="548640" y="187452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5" name="TextBox 5"/>
          <p:cNvSpPr/>
          <p:nvPr/>
        </p:nvSpPr>
        <p:spPr>
          <a:xfrm>
            <a:off x="749880" y="178308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Traditional SIP softphones require audio hardware</a:t>
            </a:r>
            <a:endParaRPr lang="en-GB" sz="1200" b="0" u="none" strike="noStrike">
              <a:solidFill>
                <a:srgbClr val="FFFFFF"/>
              </a:solidFill>
              <a:effectLst/>
              <a:uFillTx/>
              <a:latin typeface="Arial"/>
            </a:endParaRPr>
          </a:p>
        </p:txBody>
      </p:sp>
      <p:sp>
        <p:nvSpPr>
          <p:cNvPr id="86" name="Rectangle 6"/>
          <p:cNvSpPr/>
          <p:nvPr/>
        </p:nvSpPr>
        <p:spPr>
          <a:xfrm>
            <a:off x="548640" y="235008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7" name="TextBox 7"/>
          <p:cNvSpPr/>
          <p:nvPr/>
        </p:nvSpPr>
        <p:spPr>
          <a:xfrm>
            <a:off x="749880" y="2258640"/>
            <a:ext cx="457128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Difficult to automate — no headless / API-driven control</a:t>
            </a:r>
            <a:endParaRPr lang="en-GB" sz="1200" b="0" u="none" strike="noStrike">
              <a:solidFill>
                <a:srgbClr val="FFFFFF"/>
              </a:solidFill>
              <a:effectLst/>
              <a:uFillTx/>
              <a:latin typeface="Arial"/>
            </a:endParaRPr>
          </a:p>
        </p:txBody>
      </p:sp>
      <p:sp>
        <p:nvSpPr>
          <p:cNvPr id="88" name="Rectangle 8"/>
          <p:cNvSpPr/>
          <p:nvPr/>
        </p:nvSpPr>
        <p:spPr>
          <a:xfrm>
            <a:off x="548640" y="282564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9" name="TextBox 9"/>
          <p:cNvSpPr/>
          <p:nvPr/>
        </p:nvSpPr>
        <p:spPr>
          <a:xfrm>
            <a:off x="749880" y="2734200"/>
            <a:ext cx="457128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No built-in packet capture for SIP/RTP analysis</a:t>
            </a:r>
            <a:endParaRPr lang="en-GB" sz="1200" b="0" u="none" strike="noStrike">
              <a:solidFill>
                <a:srgbClr val="FFFFFF"/>
              </a:solidFill>
              <a:effectLst/>
              <a:uFillTx/>
              <a:latin typeface="Arial"/>
            </a:endParaRPr>
          </a:p>
        </p:txBody>
      </p:sp>
      <p:sp>
        <p:nvSpPr>
          <p:cNvPr id="90" name="Rectangle 10"/>
          <p:cNvSpPr/>
          <p:nvPr/>
        </p:nvSpPr>
        <p:spPr>
          <a:xfrm>
            <a:off x="548640" y="330084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91" name="TextBox 11"/>
          <p:cNvSpPr/>
          <p:nvPr/>
        </p:nvSpPr>
        <p:spPr>
          <a:xfrm>
            <a:off x="749880" y="320940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Difficult to containerise and deploy to cloud</a:t>
            </a:r>
            <a:endParaRPr lang="en-GB" sz="1200" b="0" u="none" strike="noStrike">
              <a:solidFill>
                <a:srgbClr val="FFFFFF"/>
              </a:solidFill>
              <a:effectLst/>
              <a:uFillTx/>
              <a:latin typeface="Arial"/>
            </a:endParaRPr>
          </a:p>
        </p:txBody>
      </p:sp>
      <p:sp>
        <p:nvSpPr>
          <p:cNvPr id="92" name="Rectangle 12"/>
          <p:cNvSpPr/>
          <p:nvPr/>
        </p:nvSpPr>
        <p:spPr>
          <a:xfrm>
            <a:off x="548640" y="377640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93" name="TextBox 13"/>
          <p:cNvSpPr/>
          <p:nvPr/>
        </p:nvSpPr>
        <p:spPr>
          <a:xfrm>
            <a:off x="749880" y="368496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Testing SIP systems usually needs a physical phone</a:t>
            </a:r>
            <a:endParaRPr lang="en-GB" sz="1200" b="0" u="none" strike="noStrike">
              <a:solidFill>
                <a:srgbClr val="FFFFFF"/>
              </a:solidFill>
              <a:effectLst/>
              <a:uFillTx/>
              <a:latin typeface="Arial"/>
            </a:endParaRPr>
          </a:p>
        </p:txBody>
      </p:sp>
      <p:sp>
        <p:nvSpPr>
          <p:cNvPr id="94" name="Rectangle 14"/>
          <p:cNvSpPr/>
          <p:nvPr/>
        </p:nvSpPr>
        <p:spPr>
          <a:xfrm>
            <a:off x="5760720" y="1188720"/>
            <a:ext cx="36000" cy="530280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95" name="TextBox 15"/>
          <p:cNvSpPr/>
          <p:nvPr/>
        </p:nvSpPr>
        <p:spPr>
          <a:xfrm>
            <a:off x="6035040" y="1280160"/>
            <a:ext cx="5760000" cy="36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Potential Use Cases</a:t>
            </a:r>
            <a:endParaRPr lang="en-GB" sz="1800" b="0" u="none" strike="noStrike">
              <a:solidFill>
                <a:srgbClr val="FFFFFF"/>
              </a:solidFill>
              <a:effectLst/>
              <a:uFillTx/>
              <a:latin typeface="Arial"/>
            </a:endParaRPr>
          </a:p>
        </p:txBody>
      </p:sp>
      <p:sp>
        <p:nvSpPr>
          <p:cNvPr id="96" name="Rectangle 16"/>
          <p:cNvSpPr/>
          <p:nvPr/>
        </p:nvSpPr>
        <p:spPr>
          <a:xfrm>
            <a:off x="6035040" y="1819800"/>
            <a:ext cx="639360" cy="29196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TextBox 17"/>
          <p:cNvSpPr/>
          <p:nvPr/>
        </p:nvSpPr>
        <p:spPr>
          <a:xfrm>
            <a:off x="6035040" y="18378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TEST</a:t>
            </a:r>
            <a:endParaRPr lang="en-GB" sz="800" b="0" u="none" strike="noStrike">
              <a:solidFill>
                <a:srgbClr val="FFFFFF"/>
              </a:solidFill>
              <a:effectLst/>
              <a:uFillTx/>
              <a:latin typeface="Arial"/>
            </a:endParaRPr>
          </a:p>
        </p:txBody>
      </p:sp>
      <p:sp>
        <p:nvSpPr>
          <p:cNvPr id="98" name="TextBox 18"/>
          <p:cNvSpPr/>
          <p:nvPr/>
        </p:nvSpPr>
        <p:spPr>
          <a:xfrm>
            <a:off x="6812280" y="17830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SIP Testing</a:t>
            </a:r>
            <a:endParaRPr lang="en-GB" sz="1300" b="0" u="none" strike="noStrike">
              <a:solidFill>
                <a:srgbClr val="FFFFFF"/>
              </a:solidFill>
              <a:effectLst/>
              <a:uFillTx/>
              <a:latin typeface="Arial"/>
            </a:endParaRPr>
          </a:p>
        </p:txBody>
      </p:sp>
      <p:sp>
        <p:nvSpPr>
          <p:cNvPr id="99" name="TextBox 19"/>
          <p:cNvSpPr/>
          <p:nvPr/>
        </p:nvSpPr>
        <p:spPr>
          <a:xfrm>
            <a:off x="6812280" y="2103120"/>
            <a:ext cx="48456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Automate call flows with REST API - no physical hardware needed</a:t>
            </a:r>
            <a:endParaRPr lang="en-GB" sz="1100" b="0" u="none" strike="noStrike">
              <a:solidFill>
                <a:srgbClr val="FFFFFF"/>
              </a:solidFill>
              <a:effectLst/>
              <a:uFillTx/>
              <a:latin typeface="Arial"/>
            </a:endParaRPr>
          </a:p>
        </p:txBody>
      </p:sp>
      <p:sp>
        <p:nvSpPr>
          <p:cNvPr id="100" name="Rectangle 20"/>
          <p:cNvSpPr/>
          <p:nvPr/>
        </p:nvSpPr>
        <p:spPr>
          <a:xfrm>
            <a:off x="6035040" y="2734200"/>
            <a:ext cx="639360" cy="29196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TextBox 21"/>
          <p:cNvSpPr/>
          <p:nvPr/>
        </p:nvSpPr>
        <p:spPr>
          <a:xfrm>
            <a:off x="6035040" y="27522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PCAP</a:t>
            </a:r>
            <a:endParaRPr lang="en-GB" sz="800" b="0" u="none" strike="noStrike">
              <a:solidFill>
                <a:srgbClr val="FFFFFF"/>
              </a:solidFill>
              <a:effectLst/>
              <a:uFillTx/>
              <a:latin typeface="Arial"/>
            </a:endParaRPr>
          </a:p>
        </p:txBody>
      </p:sp>
      <p:sp>
        <p:nvSpPr>
          <p:cNvPr id="102" name="TextBox 22"/>
          <p:cNvSpPr/>
          <p:nvPr/>
        </p:nvSpPr>
        <p:spPr>
          <a:xfrm>
            <a:off x="6812280" y="26974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Network Analysis</a:t>
            </a:r>
            <a:endParaRPr lang="en-GB" sz="1300" b="0" u="none" strike="noStrike">
              <a:solidFill>
                <a:srgbClr val="FFFFFF"/>
              </a:solidFill>
              <a:effectLst/>
              <a:uFillTx/>
              <a:latin typeface="Arial"/>
            </a:endParaRPr>
          </a:p>
        </p:txBody>
      </p:sp>
      <p:sp>
        <p:nvSpPr>
          <p:cNvPr id="103" name="TextBox 23"/>
          <p:cNvSpPr/>
          <p:nvPr/>
        </p:nvSpPr>
        <p:spPr>
          <a:xfrm>
            <a:off x="6812280" y="30175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 SIP + RTP per call, open in Wireshark</a:t>
            </a:r>
            <a:endParaRPr lang="en-GB" sz="1100" b="0" u="none" strike="noStrike">
              <a:solidFill>
                <a:srgbClr val="FFFFFF"/>
              </a:solidFill>
              <a:effectLst/>
              <a:uFillTx/>
              <a:latin typeface="Arial"/>
            </a:endParaRPr>
          </a:p>
        </p:txBody>
      </p:sp>
      <p:sp>
        <p:nvSpPr>
          <p:cNvPr id="104" name="Rectangle 24"/>
          <p:cNvSpPr/>
          <p:nvPr/>
        </p:nvSpPr>
        <p:spPr>
          <a:xfrm>
            <a:off x="6035040" y="3648600"/>
            <a:ext cx="639360" cy="29196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 name="TextBox 25"/>
          <p:cNvSpPr/>
          <p:nvPr/>
        </p:nvSpPr>
        <p:spPr>
          <a:xfrm>
            <a:off x="6035040" y="36666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CLOUD</a:t>
            </a:r>
            <a:endParaRPr lang="en-GB" sz="800" b="0" u="none" strike="noStrike">
              <a:solidFill>
                <a:srgbClr val="FFFFFF"/>
              </a:solidFill>
              <a:effectLst/>
              <a:uFillTx/>
              <a:latin typeface="Arial"/>
            </a:endParaRPr>
          </a:p>
        </p:txBody>
      </p:sp>
      <p:sp>
        <p:nvSpPr>
          <p:cNvPr id="106" name="TextBox 26"/>
          <p:cNvSpPr/>
          <p:nvPr/>
        </p:nvSpPr>
        <p:spPr>
          <a:xfrm>
            <a:off x="6812280" y="36118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Cloud Deployment</a:t>
            </a:r>
            <a:endParaRPr lang="en-GB" sz="1300" b="0" u="none" strike="noStrike">
              <a:solidFill>
                <a:srgbClr val="FFFFFF"/>
              </a:solidFill>
              <a:effectLst/>
              <a:uFillTx/>
              <a:latin typeface="Arial"/>
            </a:endParaRPr>
          </a:p>
        </p:txBody>
      </p:sp>
      <p:sp>
        <p:nvSpPr>
          <p:cNvPr id="107" name="TextBox 27"/>
          <p:cNvSpPr/>
          <p:nvPr/>
        </p:nvSpPr>
        <p:spPr>
          <a:xfrm>
            <a:off x="6812280" y="39319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Runs headless on any cloud VM, no audio hardware</a:t>
            </a:r>
            <a:endParaRPr lang="en-GB" sz="1100" b="0" u="none" strike="noStrike">
              <a:solidFill>
                <a:srgbClr val="FFFFFF"/>
              </a:solidFill>
              <a:effectLst/>
              <a:uFillTx/>
              <a:latin typeface="Arial"/>
            </a:endParaRPr>
          </a:p>
        </p:txBody>
      </p:sp>
      <p:sp>
        <p:nvSpPr>
          <p:cNvPr id="108" name="Rectangle 28"/>
          <p:cNvSpPr/>
          <p:nvPr/>
        </p:nvSpPr>
        <p:spPr>
          <a:xfrm>
            <a:off x="6035040" y="4563000"/>
            <a:ext cx="639360" cy="29196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TextBox 29"/>
          <p:cNvSpPr/>
          <p:nvPr/>
        </p:nvSpPr>
        <p:spPr>
          <a:xfrm>
            <a:off x="6035040" y="45810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CI/CD</a:t>
            </a:r>
            <a:endParaRPr lang="en-GB" sz="800" b="0" u="none" strike="noStrike">
              <a:solidFill>
                <a:srgbClr val="FFFFFF"/>
              </a:solidFill>
              <a:effectLst/>
              <a:uFillTx/>
              <a:latin typeface="Arial"/>
            </a:endParaRPr>
          </a:p>
        </p:txBody>
      </p:sp>
      <p:sp>
        <p:nvSpPr>
          <p:cNvPr id="110" name="TextBox 30"/>
          <p:cNvSpPr/>
          <p:nvPr/>
        </p:nvSpPr>
        <p:spPr>
          <a:xfrm>
            <a:off x="6812280" y="45262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CI/CD Integration</a:t>
            </a:r>
            <a:endParaRPr lang="en-GB" sz="1300" b="0" u="none" strike="noStrike">
              <a:solidFill>
                <a:srgbClr val="FFFFFF"/>
              </a:solidFill>
              <a:effectLst/>
              <a:uFillTx/>
              <a:latin typeface="Arial"/>
            </a:endParaRPr>
          </a:p>
        </p:txBody>
      </p:sp>
      <p:sp>
        <p:nvSpPr>
          <p:cNvPr id="111" name="TextBox 31"/>
          <p:cNvSpPr/>
          <p:nvPr/>
        </p:nvSpPr>
        <p:spPr>
          <a:xfrm>
            <a:off x="6812280" y="48463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Trigger calls, play audio, verify via API in pipelines</a:t>
            </a:r>
            <a:endParaRPr lang="en-GB" sz="1100" b="0" u="none" strike="noStrike">
              <a:solidFill>
                <a:srgbClr val="FFFFFF"/>
              </a:solidFill>
              <a:effectLst/>
              <a:uFillTx/>
              <a:latin typeface="Arial"/>
            </a:endParaRPr>
          </a:p>
        </p:txBody>
      </p:sp>
      <p:sp>
        <p:nvSpPr>
          <p:cNvPr id="112" name="Rectangle 32"/>
          <p:cNvSpPr/>
          <p:nvPr/>
        </p:nvSpPr>
        <p:spPr>
          <a:xfrm>
            <a:off x="6035040" y="5477400"/>
            <a:ext cx="639360" cy="29196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3" name="TextBox 33"/>
          <p:cNvSpPr/>
          <p:nvPr/>
        </p:nvSpPr>
        <p:spPr>
          <a:xfrm>
            <a:off x="6035040" y="54954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PHONE</a:t>
            </a:r>
            <a:endParaRPr lang="en-GB" sz="800" b="0" u="none" strike="noStrike">
              <a:solidFill>
                <a:srgbClr val="FFFFFF"/>
              </a:solidFill>
              <a:effectLst/>
              <a:uFillTx/>
              <a:latin typeface="Arial"/>
            </a:endParaRPr>
          </a:p>
        </p:txBody>
      </p:sp>
      <p:sp>
        <p:nvSpPr>
          <p:cNvPr id="114" name="TextBox 34"/>
          <p:cNvSpPr/>
          <p:nvPr/>
        </p:nvSpPr>
        <p:spPr>
          <a:xfrm>
            <a:off x="6812280" y="54406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Softphone</a:t>
            </a:r>
            <a:endParaRPr lang="en-GB" sz="1300" b="0" u="none" strike="noStrike">
              <a:solidFill>
                <a:srgbClr val="FFFFFF"/>
              </a:solidFill>
              <a:effectLst/>
              <a:uFillTx/>
              <a:latin typeface="Arial"/>
            </a:endParaRPr>
          </a:p>
        </p:txBody>
      </p:sp>
      <p:sp>
        <p:nvSpPr>
          <p:cNvPr id="115" name="TextBox 35"/>
          <p:cNvSpPr/>
          <p:nvPr/>
        </p:nvSpPr>
        <p:spPr>
          <a:xfrm>
            <a:off x="6812280" y="5760720"/>
            <a:ext cx="48456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Full-featured web UI for engineers/home lab hobbyists</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16"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Architecture Overview</a:t>
            </a:r>
            <a:endParaRPr lang="en-GB" sz="3400" b="0" u="none" strike="noStrike">
              <a:solidFill>
                <a:srgbClr val="FFFFFF"/>
              </a:solidFill>
              <a:effectLst/>
              <a:uFillTx/>
              <a:latin typeface="Arial"/>
            </a:endParaRPr>
          </a:p>
        </p:txBody>
      </p:sp>
      <p:sp>
        <p:nvSpPr>
          <p:cNvPr id="117"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18" name="Rectangle 3"/>
          <p:cNvSpPr/>
          <p:nvPr/>
        </p:nvSpPr>
        <p:spPr>
          <a:xfrm>
            <a:off x="457200" y="1188720"/>
            <a:ext cx="11246400" cy="511992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 name="Rectangle 4"/>
          <p:cNvSpPr/>
          <p:nvPr/>
        </p:nvSpPr>
        <p:spPr>
          <a:xfrm>
            <a:off x="457200" y="1188720"/>
            <a:ext cx="11246400" cy="3193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5"/>
          <p:cNvSpPr/>
          <p:nvPr/>
        </p:nvSpPr>
        <p:spPr>
          <a:xfrm>
            <a:off x="685800" y="1216080"/>
            <a:ext cx="91432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Docker / Podman Container</a:t>
            </a:r>
            <a:endParaRPr lang="en-GB" sz="1100" b="0" u="none" strike="noStrike">
              <a:solidFill>
                <a:srgbClr val="FFFFFF"/>
              </a:solidFill>
              <a:effectLst/>
              <a:uFillTx/>
              <a:latin typeface="Arial"/>
            </a:endParaRPr>
          </a:p>
        </p:txBody>
      </p:sp>
      <p:sp>
        <p:nvSpPr>
          <p:cNvPr id="121" name="Rectangle 6"/>
          <p:cNvSpPr/>
          <p:nvPr/>
        </p:nvSpPr>
        <p:spPr>
          <a:xfrm>
            <a:off x="73152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Rectangle 7"/>
          <p:cNvSpPr/>
          <p:nvPr/>
        </p:nvSpPr>
        <p:spPr>
          <a:xfrm>
            <a:off x="731520" y="1828800"/>
            <a:ext cx="27424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3" name="TextBox 8"/>
          <p:cNvSpPr/>
          <p:nvPr/>
        </p:nvSpPr>
        <p:spPr>
          <a:xfrm>
            <a:off x="82296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2563EB"/>
                </a:solidFill>
                <a:effectLst/>
                <a:uFillTx/>
                <a:latin typeface="Calibri Bold"/>
              </a:rPr>
              <a:t>server.js</a:t>
            </a:r>
            <a:endParaRPr lang="en-GB" sz="1200" b="0" u="none" strike="noStrike">
              <a:solidFill>
                <a:srgbClr val="FFFFFF"/>
              </a:solidFill>
              <a:effectLst/>
              <a:uFillTx/>
              <a:latin typeface="Arial"/>
            </a:endParaRPr>
          </a:p>
        </p:txBody>
      </p:sp>
      <p:sp>
        <p:nvSpPr>
          <p:cNvPr id="124" name="TextBox 9"/>
          <p:cNvSpPr/>
          <p:nvPr/>
        </p:nvSpPr>
        <p:spPr>
          <a:xfrm>
            <a:off x="82296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Express HTTP</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REST API + WebSocket</a:t>
            </a:r>
            <a:endParaRPr lang="en-GB" sz="1000" b="0" u="none" strike="noStrike">
              <a:solidFill>
                <a:srgbClr val="FFFFFF"/>
              </a:solidFill>
              <a:effectLst/>
              <a:uFillTx/>
              <a:latin typeface="Arial"/>
            </a:endParaRPr>
          </a:p>
        </p:txBody>
      </p:sp>
      <p:sp>
        <p:nvSpPr>
          <p:cNvPr id="125" name="Rectangle 10"/>
          <p:cNvSpPr/>
          <p:nvPr/>
        </p:nvSpPr>
        <p:spPr>
          <a:xfrm>
            <a:off x="384048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Rectangle 11"/>
          <p:cNvSpPr/>
          <p:nvPr/>
        </p:nvSpPr>
        <p:spPr>
          <a:xfrm>
            <a:off x="3840480" y="1828800"/>
            <a:ext cx="274248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7" name="TextBox 12"/>
          <p:cNvSpPr/>
          <p:nvPr/>
        </p:nvSpPr>
        <p:spPr>
          <a:xfrm>
            <a:off x="393192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7C3AED"/>
                </a:solidFill>
                <a:effectLst/>
                <a:uFillTx/>
                <a:latin typeface="Calibri Bold"/>
              </a:rPr>
              <a:t>sipManager.js</a:t>
            </a:r>
            <a:endParaRPr lang="en-GB" sz="1200" b="0" u="none" strike="noStrike">
              <a:solidFill>
                <a:srgbClr val="FFFFFF"/>
              </a:solidFill>
              <a:effectLst/>
              <a:uFillTx/>
              <a:latin typeface="Arial"/>
            </a:endParaRPr>
          </a:p>
        </p:txBody>
      </p:sp>
      <p:sp>
        <p:nvSpPr>
          <p:cNvPr id="128" name="TextBox 13"/>
          <p:cNvSpPr/>
          <p:nvPr/>
        </p:nvSpPr>
        <p:spPr>
          <a:xfrm>
            <a:off x="393192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JsSIP UA</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SIP over WebSocket</a:t>
            </a:r>
            <a:endParaRPr lang="en-GB" sz="1000" b="0" u="none" strike="noStrike">
              <a:solidFill>
                <a:srgbClr val="FFFFFF"/>
              </a:solidFill>
              <a:effectLst/>
              <a:uFillTx/>
              <a:latin typeface="Arial"/>
            </a:endParaRPr>
          </a:p>
        </p:txBody>
      </p:sp>
      <p:sp>
        <p:nvSpPr>
          <p:cNvPr id="129" name="Rectangle 14"/>
          <p:cNvSpPr/>
          <p:nvPr/>
        </p:nvSpPr>
        <p:spPr>
          <a:xfrm>
            <a:off x="694944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0" name="Rectangle 15"/>
          <p:cNvSpPr/>
          <p:nvPr/>
        </p:nvSpPr>
        <p:spPr>
          <a:xfrm>
            <a:off x="6949440" y="1828800"/>
            <a:ext cx="274248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1" name="TextBox 16"/>
          <p:cNvSpPr/>
          <p:nvPr/>
        </p:nvSpPr>
        <p:spPr>
          <a:xfrm>
            <a:off x="704088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59669"/>
                </a:solidFill>
                <a:effectLst/>
                <a:uFillTx/>
                <a:latin typeface="Calibri Bold"/>
              </a:rPr>
              <a:t>captureManager.js</a:t>
            </a:r>
            <a:endParaRPr lang="en-GB" sz="1200" b="0" u="none" strike="noStrike">
              <a:solidFill>
                <a:srgbClr val="FFFFFF"/>
              </a:solidFill>
              <a:effectLst/>
              <a:uFillTx/>
              <a:latin typeface="Arial"/>
            </a:endParaRPr>
          </a:p>
        </p:txBody>
      </p:sp>
      <p:sp>
        <p:nvSpPr>
          <p:cNvPr id="132" name="TextBox 17"/>
          <p:cNvSpPr/>
          <p:nvPr/>
        </p:nvSpPr>
        <p:spPr>
          <a:xfrm>
            <a:off x="704088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pcap writer</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Pure Node.js</a:t>
            </a:r>
            <a:endParaRPr lang="en-GB" sz="1000" b="0" u="none" strike="noStrike">
              <a:solidFill>
                <a:srgbClr val="FFFFFF"/>
              </a:solidFill>
              <a:effectLst/>
              <a:uFillTx/>
              <a:latin typeface="Arial"/>
            </a:endParaRPr>
          </a:p>
        </p:txBody>
      </p:sp>
      <p:sp>
        <p:nvSpPr>
          <p:cNvPr id="133" name="Rectangle 18"/>
          <p:cNvSpPr/>
          <p:nvPr/>
        </p:nvSpPr>
        <p:spPr>
          <a:xfrm>
            <a:off x="73152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Rectangle 19"/>
          <p:cNvSpPr/>
          <p:nvPr/>
        </p:nvSpPr>
        <p:spPr>
          <a:xfrm>
            <a:off x="731520" y="3200400"/>
            <a:ext cx="274248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5" name="TextBox 20"/>
          <p:cNvSpPr/>
          <p:nvPr/>
        </p:nvSpPr>
        <p:spPr>
          <a:xfrm>
            <a:off x="82296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D97706"/>
                </a:solidFill>
                <a:effectLst/>
                <a:uFillTx/>
                <a:latin typeface="Calibri Bold"/>
              </a:rPr>
              <a:t>audioDecoder.js</a:t>
            </a:r>
            <a:endParaRPr lang="en-GB" sz="1200" b="0" u="none" strike="noStrike">
              <a:solidFill>
                <a:srgbClr val="FFFFFF"/>
              </a:solidFill>
              <a:effectLst/>
              <a:uFillTx/>
              <a:latin typeface="Arial"/>
            </a:endParaRPr>
          </a:p>
        </p:txBody>
      </p:sp>
      <p:sp>
        <p:nvSpPr>
          <p:cNvPr id="136" name="TextBox 21"/>
          <p:cNvSpPr/>
          <p:nvPr/>
        </p:nvSpPr>
        <p:spPr>
          <a:xfrm>
            <a:off x="82296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G.722/PCMU decode</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Inbound WAV rec.</a:t>
            </a:r>
            <a:endParaRPr lang="en-GB" sz="1000" b="0" u="none" strike="noStrike">
              <a:solidFill>
                <a:srgbClr val="FFFFFF"/>
              </a:solidFill>
              <a:effectLst/>
              <a:uFillTx/>
              <a:latin typeface="Arial"/>
            </a:endParaRPr>
          </a:p>
        </p:txBody>
      </p:sp>
      <p:sp>
        <p:nvSpPr>
          <p:cNvPr id="137" name="Rectangle 22"/>
          <p:cNvSpPr/>
          <p:nvPr/>
        </p:nvSpPr>
        <p:spPr>
          <a:xfrm>
            <a:off x="384048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 name="Rectangle 23"/>
          <p:cNvSpPr/>
          <p:nvPr/>
        </p:nvSpPr>
        <p:spPr>
          <a:xfrm>
            <a:off x="3840480" y="3200400"/>
            <a:ext cx="2742480" cy="36000"/>
          </a:xfrm>
          <a:prstGeom prst="rect">
            <a:avLst/>
          </a:prstGeom>
          <a:solidFill>
            <a:srgbClr val="06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9" name="TextBox 24"/>
          <p:cNvSpPr/>
          <p:nvPr/>
        </p:nvSpPr>
        <p:spPr>
          <a:xfrm>
            <a:off x="393192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69669"/>
                </a:solidFill>
                <a:effectLst/>
                <a:uFillTx/>
                <a:latin typeface="Calibri Bold"/>
              </a:rPr>
              <a:t>callHistory.js</a:t>
            </a:r>
            <a:endParaRPr lang="en-GB" sz="1200" b="0" u="none" strike="noStrike">
              <a:solidFill>
                <a:srgbClr val="FFFFFF"/>
              </a:solidFill>
              <a:effectLst/>
              <a:uFillTx/>
              <a:latin typeface="Arial"/>
            </a:endParaRPr>
          </a:p>
        </p:txBody>
      </p:sp>
      <p:sp>
        <p:nvSpPr>
          <p:cNvPr id="140" name="TextBox 25"/>
          <p:cNvSpPr/>
          <p:nvPr/>
        </p:nvSpPr>
        <p:spPr>
          <a:xfrm>
            <a:off x="393192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Persistent history</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JSON + CSV</a:t>
            </a:r>
            <a:endParaRPr lang="en-GB" sz="1000" b="0" u="none" strike="noStrike">
              <a:solidFill>
                <a:srgbClr val="FFFFFF"/>
              </a:solidFill>
              <a:effectLst/>
              <a:uFillTx/>
              <a:latin typeface="Arial"/>
            </a:endParaRPr>
          </a:p>
        </p:txBody>
      </p:sp>
      <p:sp>
        <p:nvSpPr>
          <p:cNvPr id="141" name="Rectangle 26"/>
          <p:cNvSpPr/>
          <p:nvPr/>
        </p:nvSpPr>
        <p:spPr>
          <a:xfrm>
            <a:off x="694944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2" name="Rectangle 27"/>
          <p:cNvSpPr/>
          <p:nvPr/>
        </p:nvSpPr>
        <p:spPr>
          <a:xfrm>
            <a:off x="6949440" y="3200400"/>
            <a:ext cx="2742480" cy="36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43" name="TextBox 28"/>
          <p:cNvSpPr/>
          <p:nvPr/>
        </p:nvSpPr>
        <p:spPr>
          <a:xfrm>
            <a:off x="704088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0D4FF"/>
                </a:solidFill>
                <a:effectLst/>
                <a:uFillTx/>
                <a:latin typeface="Calibri Bold"/>
              </a:rPr>
              <a:t>RtpBridge</a:t>
            </a:r>
            <a:endParaRPr lang="en-GB" sz="1200" b="0" u="none" strike="noStrike">
              <a:solidFill>
                <a:srgbClr val="FFFFFF"/>
              </a:solidFill>
              <a:effectLst/>
              <a:uFillTx/>
              <a:latin typeface="Arial"/>
            </a:endParaRPr>
          </a:p>
        </p:txBody>
      </p:sp>
      <p:sp>
        <p:nvSpPr>
          <p:cNvPr id="144" name="TextBox 29"/>
          <p:cNvSpPr/>
          <p:nvPr/>
        </p:nvSpPr>
        <p:spPr>
          <a:xfrm>
            <a:off x="704088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dgram UDP sockets</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G.722 inject</a:t>
            </a:r>
            <a:endParaRPr lang="en-GB" sz="1000" b="0" u="none" strike="noStrike">
              <a:solidFill>
                <a:srgbClr val="FFFFFF"/>
              </a:solidFill>
              <a:effectLst/>
              <a:uFillTx/>
              <a:latin typeface="Arial"/>
            </a:endParaRPr>
          </a:p>
        </p:txBody>
      </p:sp>
      <p:sp>
        <p:nvSpPr>
          <p:cNvPr id="145" name="Rectangle 30"/>
          <p:cNvSpPr/>
          <p:nvPr/>
        </p:nvSpPr>
        <p:spPr>
          <a:xfrm>
            <a:off x="731520" y="4663440"/>
            <a:ext cx="4114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TextBox 31"/>
          <p:cNvSpPr/>
          <p:nvPr/>
        </p:nvSpPr>
        <p:spPr>
          <a:xfrm>
            <a:off x="914400" y="4754880"/>
            <a:ext cx="374832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SIP PBX (Asterisk / FreePBX / Kamailio)</a:t>
            </a:r>
            <a:endParaRPr lang="en-GB" sz="1100" b="0" u="none" strike="noStrike">
              <a:solidFill>
                <a:srgbClr val="FFFFFF"/>
              </a:solidFill>
              <a:effectLst/>
              <a:uFillTx/>
              <a:latin typeface="Arial"/>
            </a:endParaRPr>
          </a:p>
        </p:txBody>
      </p:sp>
      <p:sp>
        <p:nvSpPr>
          <p:cNvPr id="147" name="Rectangle 32"/>
          <p:cNvSpPr/>
          <p:nvPr/>
        </p:nvSpPr>
        <p:spPr>
          <a:xfrm>
            <a:off x="5303520" y="4663440"/>
            <a:ext cx="4114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TextBox 33"/>
          <p:cNvSpPr/>
          <p:nvPr/>
        </p:nvSpPr>
        <p:spPr>
          <a:xfrm>
            <a:off x="5486400" y="4754880"/>
            <a:ext cx="374832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Browser / REST Client</a:t>
            </a:r>
            <a:endParaRPr lang="en-GB" sz="1100" b="0" u="none" strike="noStrike">
              <a:solidFill>
                <a:srgbClr val="FFFFFF"/>
              </a:solidFill>
              <a:effectLst/>
              <a:uFillTx/>
              <a:latin typeface="Arial"/>
            </a:endParaRPr>
          </a:p>
        </p:txBody>
      </p:sp>
      <p:sp>
        <p:nvSpPr>
          <p:cNvPr id="149" name="Rectangle 34"/>
          <p:cNvSpPr/>
          <p:nvPr/>
        </p:nvSpPr>
        <p:spPr>
          <a:xfrm>
            <a:off x="9784080" y="4663440"/>
            <a:ext cx="1828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 name="TextBox 35"/>
          <p:cNvSpPr/>
          <p:nvPr/>
        </p:nvSpPr>
        <p:spPr>
          <a:xfrm>
            <a:off x="9966960" y="4754880"/>
            <a:ext cx="1645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Wireshark</a:t>
            </a:r>
            <a:endParaRPr lang="en-GB" sz="1100" b="0" u="none" strike="noStrike">
              <a:solidFill>
                <a:srgbClr val="FFFFFF"/>
              </a:solidFill>
              <a:effectLst/>
              <a:uFillTx/>
              <a:latin typeface="Arial"/>
            </a:endParaRPr>
          </a:p>
        </p:txBody>
      </p:sp>
      <p:sp>
        <p:nvSpPr>
          <p:cNvPr id="151" name="TextBox 36"/>
          <p:cNvSpPr/>
          <p:nvPr/>
        </p:nvSpPr>
        <p:spPr>
          <a:xfrm>
            <a:off x="164592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SIP/WS  ←→</a:t>
            </a:r>
            <a:endParaRPr lang="en-GB" sz="900" b="0" u="none" strike="noStrike">
              <a:solidFill>
                <a:srgbClr val="FFFFFF"/>
              </a:solidFill>
              <a:effectLst/>
              <a:uFillTx/>
              <a:latin typeface="Arial"/>
            </a:endParaRPr>
          </a:p>
        </p:txBody>
      </p:sp>
      <p:sp>
        <p:nvSpPr>
          <p:cNvPr id="152" name="TextBox 37"/>
          <p:cNvSpPr/>
          <p:nvPr/>
        </p:nvSpPr>
        <p:spPr>
          <a:xfrm>
            <a:off x="640080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RTP/UDP ←→</a:t>
            </a:r>
            <a:endParaRPr lang="en-GB" sz="900" b="0" u="none" strike="noStrike">
              <a:solidFill>
                <a:srgbClr val="FFFFFF"/>
              </a:solidFill>
              <a:effectLst/>
              <a:uFillTx/>
              <a:latin typeface="Arial"/>
            </a:endParaRPr>
          </a:p>
        </p:txBody>
      </p:sp>
      <p:sp>
        <p:nvSpPr>
          <p:cNvPr id="153" name="TextBox 38"/>
          <p:cNvSpPr/>
          <p:nvPr/>
        </p:nvSpPr>
        <p:spPr>
          <a:xfrm>
            <a:off x="457200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HTTP/WS ←→</a:t>
            </a:r>
            <a:endParaRPr lang="en-GB" sz="900" b="0" u="none" strike="noStrike">
              <a:solidFill>
                <a:srgbClr val="FFFFFF"/>
              </a:solidFill>
              <a:effectLst/>
              <a:uFillTx/>
              <a:latin typeface="Arial"/>
            </a:endParaRPr>
          </a:p>
        </p:txBody>
      </p:sp>
      <p:sp>
        <p:nvSpPr>
          <p:cNvPr id="154" name="TextBox 39"/>
          <p:cNvSpPr/>
          <p:nvPr/>
        </p:nvSpPr>
        <p:spPr>
          <a:xfrm>
            <a:off x="10058400" y="4343400"/>
            <a:ext cx="13708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.pcap</a:t>
            </a:r>
            <a:endParaRPr lang="en-GB"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55"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SIP &amp; Media Stack</a:t>
            </a:r>
            <a:endParaRPr lang="en-GB" sz="3400" b="0" u="none" strike="noStrike">
              <a:solidFill>
                <a:srgbClr val="FFFFFF"/>
              </a:solidFill>
              <a:effectLst/>
              <a:uFillTx/>
              <a:latin typeface="Arial"/>
            </a:endParaRPr>
          </a:p>
        </p:txBody>
      </p:sp>
      <p:sp>
        <p:nvSpPr>
          <p:cNvPr id="156"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57" name="TextBox 3"/>
          <p:cNvSpPr/>
          <p:nvPr/>
        </p:nvSpPr>
        <p:spPr>
          <a:xfrm>
            <a:off x="548640" y="1188720"/>
            <a:ext cx="54856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SIP Signalling</a:t>
            </a:r>
            <a:endParaRPr lang="en-GB" sz="1800" b="0" u="none" strike="noStrike">
              <a:solidFill>
                <a:srgbClr val="FFFFFF"/>
              </a:solidFill>
              <a:effectLst/>
              <a:uFillTx/>
              <a:latin typeface="Arial"/>
            </a:endParaRPr>
          </a:p>
        </p:txBody>
      </p:sp>
      <p:sp>
        <p:nvSpPr>
          <p:cNvPr id="158" name="TextBox 4"/>
          <p:cNvSpPr/>
          <p:nvPr/>
        </p:nvSpPr>
        <p:spPr>
          <a:xfrm>
            <a:off x="548640" y="1691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Library:</a:t>
            </a:r>
            <a:endParaRPr lang="en-GB" sz="1100" b="0" u="none" strike="noStrike">
              <a:solidFill>
                <a:srgbClr val="FFFFFF"/>
              </a:solidFill>
              <a:effectLst/>
              <a:uFillTx/>
              <a:latin typeface="Arial"/>
            </a:endParaRPr>
          </a:p>
        </p:txBody>
      </p:sp>
      <p:sp>
        <p:nvSpPr>
          <p:cNvPr id="159" name="TextBox 5"/>
          <p:cNvSpPr/>
          <p:nvPr/>
        </p:nvSpPr>
        <p:spPr>
          <a:xfrm>
            <a:off x="1920240" y="1691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JsSIP 3.10 - battle-tested WebSocket SIP stack</a:t>
            </a:r>
            <a:endParaRPr lang="en-GB" sz="1100" b="0" u="none" strike="noStrike">
              <a:solidFill>
                <a:srgbClr val="FFFFFF"/>
              </a:solidFill>
              <a:effectLst/>
              <a:uFillTx/>
              <a:latin typeface="Arial"/>
            </a:endParaRPr>
          </a:p>
        </p:txBody>
      </p:sp>
      <p:sp>
        <p:nvSpPr>
          <p:cNvPr id="160" name="TextBox 6"/>
          <p:cNvSpPr/>
          <p:nvPr/>
        </p:nvSpPr>
        <p:spPr>
          <a:xfrm>
            <a:off x="548640" y="2258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Transport:</a:t>
            </a:r>
            <a:endParaRPr lang="en-GB" sz="1100" b="0" u="none" strike="noStrike">
              <a:solidFill>
                <a:srgbClr val="FFFFFF"/>
              </a:solidFill>
              <a:effectLst/>
              <a:uFillTx/>
              <a:latin typeface="Arial"/>
            </a:endParaRPr>
          </a:p>
        </p:txBody>
      </p:sp>
      <p:sp>
        <p:nvSpPr>
          <p:cNvPr id="161" name="TextBox 7"/>
          <p:cNvSpPr/>
          <p:nvPr/>
        </p:nvSpPr>
        <p:spPr>
          <a:xfrm>
            <a:off x="1920240" y="2258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WebSocket (ws:// or wss://) to PBX port 8088</a:t>
            </a:r>
            <a:endParaRPr lang="en-GB" sz="1100" b="0" u="none" strike="noStrike">
              <a:solidFill>
                <a:srgbClr val="FFFFFF"/>
              </a:solidFill>
              <a:effectLst/>
              <a:uFillTx/>
              <a:latin typeface="Arial"/>
            </a:endParaRPr>
          </a:p>
        </p:txBody>
      </p:sp>
      <p:sp>
        <p:nvSpPr>
          <p:cNvPr id="162" name="TextBox 8"/>
          <p:cNvSpPr/>
          <p:nvPr/>
        </p:nvSpPr>
        <p:spPr>
          <a:xfrm>
            <a:off x="548640" y="2825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Node.js fix:</a:t>
            </a:r>
            <a:endParaRPr lang="en-GB" sz="1100" b="0" u="none" strike="noStrike">
              <a:solidFill>
                <a:srgbClr val="FFFFFF"/>
              </a:solidFill>
              <a:effectLst/>
              <a:uFillTx/>
              <a:latin typeface="Arial"/>
            </a:endParaRPr>
          </a:p>
        </p:txBody>
      </p:sp>
      <p:sp>
        <p:nvSpPr>
          <p:cNvPr id="163" name="TextBox 9"/>
          <p:cNvSpPr/>
          <p:nvPr/>
        </p:nvSpPr>
        <p:spPr>
          <a:xfrm>
            <a:off x="1920240" y="2825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global.WebSocket + RTCPeerConnection stubs</a:t>
            </a:r>
            <a:endParaRPr lang="en-GB" sz="1100" b="0" u="none" strike="noStrike">
              <a:solidFill>
                <a:srgbClr val="FFFFFF"/>
              </a:solidFill>
              <a:effectLst/>
              <a:uFillTx/>
              <a:latin typeface="Arial"/>
            </a:endParaRPr>
          </a:p>
        </p:txBody>
      </p:sp>
      <p:sp>
        <p:nvSpPr>
          <p:cNvPr id="164" name="TextBox 10"/>
          <p:cNvSpPr/>
          <p:nvPr/>
        </p:nvSpPr>
        <p:spPr>
          <a:xfrm>
            <a:off x="548640" y="3392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ICE bypass:</a:t>
            </a:r>
            <a:endParaRPr lang="en-GB" sz="1100" b="0" u="none" strike="noStrike">
              <a:solidFill>
                <a:srgbClr val="FFFFFF"/>
              </a:solidFill>
              <a:effectLst/>
              <a:uFillTx/>
              <a:latin typeface="Arial"/>
            </a:endParaRPr>
          </a:p>
        </p:txBody>
      </p:sp>
      <p:sp>
        <p:nvSpPr>
          <p:cNvPr id="165" name="TextBox 11"/>
          <p:cNvSpPr/>
          <p:nvPr/>
        </p:nvSpPr>
        <p:spPr>
          <a:xfrm>
            <a:off x="1920240" y="3392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onicecandidate(null) fired immediately in setLocalDescription</a:t>
            </a:r>
            <a:endParaRPr lang="en-GB" sz="1100" b="0" u="none" strike="noStrike">
              <a:solidFill>
                <a:srgbClr val="FFFFFF"/>
              </a:solidFill>
              <a:effectLst/>
              <a:uFillTx/>
              <a:latin typeface="Arial"/>
            </a:endParaRPr>
          </a:p>
        </p:txBody>
      </p:sp>
      <p:sp>
        <p:nvSpPr>
          <p:cNvPr id="166" name="TextBox 12"/>
          <p:cNvSpPr/>
          <p:nvPr/>
        </p:nvSpPr>
        <p:spPr>
          <a:xfrm>
            <a:off x="548640" y="3959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SDP:</a:t>
            </a:r>
            <a:endParaRPr lang="en-GB" sz="1100" b="0" u="none" strike="noStrike">
              <a:solidFill>
                <a:srgbClr val="FFFFFF"/>
              </a:solidFill>
              <a:effectLst/>
              <a:uFillTx/>
              <a:latin typeface="Arial"/>
            </a:endParaRPr>
          </a:p>
        </p:txBody>
      </p:sp>
      <p:sp>
        <p:nvSpPr>
          <p:cNvPr id="167" name="TextBox 13"/>
          <p:cNvSpPr/>
          <p:nvPr/>
        </p:nvSpPr>
        <p:spPr>
          <a:xfrm>
            <a:off x="1920240" y="3959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Hand-built offer/answer - G.722 + PCMU + PCMA + tel-event</a:t>
            </a:r>
            <a:endParaRPr lang="en-GB" sz="1100" b="0" u="none" strike="noStrike">
              <a:solidFill>
                <a:srgbClr val="FFFFFF"/>
              </a:solidFill>
              <a:effectLst/>
              <a:uFillTx/>
              <a:latin typeface="Arial"/>
            </a:endParaRPr>
          </a:p>
        </p:txBody>
      </p:sp>
      <p:sp>
        <p:nvSpPr>
          <p:cNvPr id="168" name="TextBox 14"/>
          <p:cNvSpPr/>
          <p:nvPr/>
        </p:nvSpPr>
        <p:spPr>
          <a:xfrm>
            <a:off x="548640" y="4526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Hold:</a:t>
            </a:r>
            <a:endParaRPr lang="en-GB" sz="1100" b="0" u="none" strike="noStrike">
              <a:solidFill>
                <a:srgbClr val="FFFFFF"/>
              </a:solidFill>
              <a:effectLst/>
              <a:uFillTx/>
              <a:latin typeface="Arial"/>
            </a:endParaRPr>
          </a:p>
        </p:txBody>
      </p:sp>
      <p:sp>
        <p:nvSpPr>
          <p:cNvPr id="169" name="TextBox 15"/>
          <p:cNvSpPr/>
          <p:nvPr/>
        </p:nvSpPr>
        <p:spPr>
          <a:xfrm>
            <a:off x="1920240" y="4526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Raw re-INVITE via transport._ws - avoids getSenders()</a:t>
            </a:r>
            <a:endParaRPr lang="en-GB" sz="1100" b="0" u="none" strike="noStrike">
              <a:solidFill>
                <a:srgbClr val="FFFFFF"/>
              </a:solidFill>
              <a:effectLst/>
              <a:uFillTx/>
              <a:latin typeface="Arial"/>
            </a:endParaRPr>
          </a:p>
        </p:txBody>
      </p:sp>
      <p:sp>
        <p:nvSpPr>
          <p:cNvPr id="170" name="TextBox 16"/>
          <p:cNvSpPr/>
          <p:nvPr/>
        </p:nvSpPr>
        <p:spPr>
          <a:xfrm>
            <a:off x="548640" y="5093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Transfer:</a:t>
            </a:r>
            <a:endParaRPr lang="en-GB" sz="1100" b="0" u="none" strike="noStrike">
              <a:solidFill>
                <a:srgbClr val="FFFFFF"/>
              </a:solidFill>
              <a:effectLst/>
              <a:uFillTx/>
              <a:latin typeface="Arial"/>
            </a:endParaRPr>
          </a:p>
        </p:txBody>
      </p:sp>
      <p:sp>
        <p:nvSpPr>
          <p:cNvPr id="171" name="TextBox 17"/>
          <p:cNvSpPr/>
          <p:nvPr/>
        </p:nvSpPr>
        <p:spPr>
          <a:xfrm>
            <a:off x="1920240" y="5093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REFER (blind) and REFER+Replaces (attended)</a:t>
            </a:r>
            <a:endParaRPr lang="en-GB" sz="1100" b="0" u="none" strike="noStrike">
              <a:solidFill>
                <a:srgbClr val="FFFFFF"/>
              </a:solidFill>
              <a:effectLst/>
              <a:uFillTx/>
              <a:latin typeface="Arial"/>
            </a:endParaRPr>
          </a:p>
        </p:txBody>
      </p:sp>
      <p:sp>
        <p:nvSpPr>
          <p:cNvPr id="172" name="TextBox 18"/>
          <p:cNvSpPr/>
          <p:nvPr/>
        </p:nvSpPr>
        <p:spPr>
          <a:xfrm>
            <a:off x="548640" y="5660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DTMF:</a:t>
            </a:r>
            <a:endParaRPr lang="en-GB" sz="1100" b="0" u="none" strike="noStrike">
              <a:solidFill>
                <a:srgbClr val="FFFFFF"/>
              </a:solidFill>
              <a:effectLst/>
              <a:uFillTx/>
              <a:latin typeface="Arial"/>
            </a:endParaRPr>
          </a:p>
        </p:txBody>
      </p:sp>
      <p:sp>
        <p:nvSpPr>
          <p:cNvPr id="173" name="TextBox 19"/>
          <p:cNvSpPr/>
          <p:nvPr/>
        </p:nvSpPr>
        <p:spPr>
          <a:xfrm>
            <a:off x="1920240" y="5660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RFC 2833 telephone-event via session.sendDTMF()</a:t>
            </a:r>
            <a:endParaRPr lang="en-GB" sz="1100" b="0" u="none" strike="noStrike">
              <a:solidFill>
                <a:srgbClr val="FFFFFF"/>
              </a:solidFill>
              <a:effectLst/>
              <a:uFillTx/>
              <a:latin typeface="Arial"/>
            </a:endParaRPr>
          </a:p>
        </p:txBody>
      </p:sp>
      <p:sp>
        <p:nvSpPr>
          <p:cNvPr id="174" name="Rectangle 20"/>
          <p:cNvSpPr/>
          <p:nvPr/>
        </p:nvSpPr>
        <p:spPr>
          <a:xfrm>
            <a:off x="6126480" y="1097280"/>
            <a:ext cx="36000" cy="539424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175" name="TextBox 21"/>
          <p:cNvSpPr/>
          <p:nvPr/>
        </p:nvSpPr>
        <p:spPr>
          <a:xfrm>
            <a:off x="6400800" y="1188720"/>
            <a:ext cx="54856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RTP Media</a:t>
            </a:r>
            <a:endParaRPr lang="en-GB" sz="1800" b="0" u="none" strike="noStrike">
              <a:solidFill>
                <a:srgbClr val="FFFFFF"/>
              </a:solidFill>
              <a:effectLst/>
              <a:uFillTx/>
              <a:latin typeface="Arial"/>
            </a:endParaRPr>
          </a:p>
        </p:txBody>
      </p:sp>
      <p:sp>
        <p:nvSpPr>
          <p:cNvPr id="176" name="TextBox 22"/>
          <p:cNvSpPr/>
          <p:nvPr/>
        </p:nvSpPr>
        <p:spPr>
          <a:xfrm>
            <a:off x="6400800" y="1691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Engine:</a:t>
            </a:r>
            <a:endParaRPr lang="en-GB" sz="1100" b="0" u="none" strike="noStrike">
              <a:solidFill>
                <a:srgbClr val="FFFFFF"/>
              </a:solidFill>
              <a:effectLst/>
              <a:uFillTx/>
              <a:latin typeface="Arial"/>
            </a:endParaRPr>
          </a:p>
        </p:txBody>
      </p:sp>
      <p:sp>
        <p:nvSpPr>
          <p:cNvPr id="177" name="TextBox 23"/>
          <p:cNvSpPr/>
          <p:nvPr/>
        </p:nvSpPr>
        <p:spPr>
          <a:xfrm>
            <a:off x="7818120" y="1691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Node.js dgram UDP - no WebRTC, no audio hardware</a:t>
            </a:r>
            <a:endParaRPr lang="en-GB" sz="1100" b="0" u="none" strike="noStrike">
              <a:solidFill>
                <a:srgbClr val="FFFFFF"/>
              </a:solidFill>
              <a:effectLst/>
              <a:uFillTx/>
              <a:latin typeface="Arial"/>
            </a:endParaRPr>
          </a:p>
        </p:txBody>
      </p:sp>
      <p:sp>
        <p:nvSpPr>
          <p:cNvPr id="178" name="TextBox 24"/>
          <p:cNvSpPr/>
          <p:nvPr/>
        </p:nvSpPr>
        <p:spPr>
          <a:xfrm>
            <a:off x="6400800" y="2258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Codecs:</a:t>
            </a:r>
            <a:endParaRPr lang="en-GB" sz="1100" b="0" u="none" strike="noStrike">
              <a:solidFill>
                <a:srgbClr val="FFFFFF"/>
              </a:solidFill>
              <a:effectLst/>
              <a:uFillTx/>
              <a:latin typeface="Arial"/>
            </a:endParaRPr>
          </a:p>
        </p:txBody>
      </p:sp>
      <p:sp>
        <p:nvSpPr>
          <p:cNvPr id="179" name="TextBox 25"/>
          <p:cNvSpPr/>
          <p:nvPr/>
        </p:nvSpPr>
        <p:spPr>
          <a:xfrm>
            <a:off x="7818120" y="2258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G.722 (preferred) · PCMU/G.711μ · PCMA/G.711A</a:t>
            </a:r>
            <a:endParaRPr lang="en-GB" sz="1100" b="0" u="none" strike="noStrike">
              <a:solidFill>
                <a:srgbClr val="FFFFFF"/>
              </a:solidFill>
              <a:effectLst/>
              <a:uFillTx/>
              <a:latin typeface="Arial"/>
            </a:endParaRPr>
          </a:p>
        </p:txBody>
      </p:sp>
      <p:sp>
        <p:nvSpPr>
          <p:cNvPr id="180" name="TextBox 26"/>
          <p:cNvSpPr/>
          <p:nvPr/>
        </p:nvSpPr>
        <p:spPr>
          <a:xfrm>
            <a:off x="6400800" y="2825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G.722:</a:t>
            </a:r>
            <a:endParaRPr lang="en-GB" sz="1100" b="0" u="none" strike="noStrike">
              <a:solidFill>
                <a:srgbClr val="FFFFFF"/>
              </a:solidFill>
              <a:effectLst/>
              <a:uFillTx/>
              <a:latin typeface="Arial"/>
            </a:endParaRPr>
          </a:p>
        </p:txBody>
      </p:sp>
      <p:sp>
        <p:nvSpPr>
          <p:cNvPr id="181" name="TextBox 27"/>
          <p:cNvSpPr/>
          <p:nvPr/>
        </p:nvSpPr>
        <p:spPr>
          <a:xfrm>
            <a:off x="7818120" y="2825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16kHz wideband ADPCM - RTP clock 8000 per RFC 3551</a:t>
            </a:r>
            <a:endParaRPr lang="en-GB" sz="1100" b="0" u="none" strike="noStrike">
              <a:solidFill>
                <a:srgbClr val="FFFFFF"/>
              </a:solidFill>
              <a:effectLst/>
              <a:uFillTx/>
              <a:latin typeface="Arial"/>
            </a:endParaRPr>
          </a:p>
        </p:txBody>
      </p:sp>
      <p:sp>
        <p:nvSpPr>
          <p:cNvPr id="182" name="TextBox 28"/>
          <p:cNvSpPr/>
          <p:nvPr/>
        </p:nvSpPr>
        <p:spPr>
          <a:xfrm>
            <a:off x="6400800" y="3392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Framing:</a:t>
            </a:r>
            <a:endParaRPr lang="en-GB" sz="1100" b="0" u="none" strike="noStrike">
              <a:solidFill>
                <a:srgbClr val="FFFFFF"/>
              </a:solidFill>
              <a:effectLst/>
              <a:uFillTx/>
              <a:latin typeface="Arial"/>
            </a:endParaRPr>
          </a:p>
        </p:txBody>
      </p:sp>
      <p:sp>
        <p:nvSpPr>
          <p:cNvPr id="183" name="TextBox 29"/>
          <p:cNvSpPr/>
          <p:nvPr/>
        </p:nvSpPr>
        <p:spPr>
          <a:xfrm>
            <a:off x="7818120" y="3392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20ms frames, 160 bytes @ G.722 (64kbps)</a:t>
            </a:r>
            <a:endParaRPr lang="en-GB" sz="1100" b="0" u="none" strike="noStrike">
              <a:solidFill>
                <a:srgbClr val="FFFFFF"/>
              </a:solidFill>
              <a:effectLst/>
              <a:uFillTx/>
              <a:latin typeface="Arial"/>
            </a:endParaRPr>
          </a:p>
        </p:txBody>
      </p:sp>
      <p:sp>
        <p:nvSpPr>
          <p:cNvPr id="184" name="TextBox 30"/>
          <p:cNvSpPr/>
          <p:nvPr/>
        </p:nvSpPr>
        <p:spPr>
          <a:xfrm>
            <a:off x="6400800" y="3959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Playback:</a:t>
            </a:r>
            <a:endParaRPr lang="en-GB" sz="1100" b="0" u="none" strike="noStrike">
              <a:solidFill>
                <a:srgbClr val="FFFFFF"/>
              </a:solidFill>
              <a:effectLst/>
              <a:uFillTx/>
              <a:latin typeface="Arial"/>
            </a:endParaRPr>
          </a:p>
        </p:txBody>
      </p:sp>
      <p:sp>
        <p:nvSpPr>
          <p:cNvPr id="185" name="TextBox 31"/>
          <p:cNvSpPr/>
          <p:nvPr/>
        </p:nvSpPr>
        <p:spPr>
          <a:xfrm>
            <a:off x="7818120" y="3959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Pre-encoded G.722 file → injected into stream SSRC</a:t>
            </a:r>
            <a:endParaRPr lang="en-GB" sz="1100" b="0" u="none" strike="noStrike">
              <a:solidFill>
                <a:srgbClr val="FFFFFF"/>
              </a:solidFill>
              <a:effectLst/>
              <a:uFillTx/>
              <a:latin typeface="Arial"/>
            </a:endParaRPr>
          </a:p>
        </p:txBody>
      </p:sp>
      <p:sp>
        <p:nvSpPr>
          <p:cNvPr id="186" name="TextBox 32"/>
          <p:cNvSpPr/>
          <p:nvPr/>
        </p:nvSpPr>
        <p:spPr>
          <a:xfrm>
            <a:off x="6400800" y="4526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Recording:</a:t>
            </a:r>
            <a:endParaRPr lang="en-GB" sz="1100" b="0" u="none" strike="noStrike">
              <a:solidFill>
                <a:srgbClr val="FFFFFF"/>
              </a:solidFill>
              <a:effectLst/>
              <a:uFillTx/>
              <a:latin typeface="Arial"/>
            </a:endParaRPr>
          </a:p>
        </p:txBody>
      </p:sp>
      <p:sp>
        <p:nvSpPr>
          <p:cNvPr id="187" name="TextBox 33"/>
          <p:cNvSpPr/>
          <p:nvPr/>
        </p:nvSpPr>
        <p:spPr>
          <a:xfrm>
            <a:off x="7818120" y="4526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G.722 decoder → 16kHz PCM → WAV file per call</a:t>
            </a:r>
            <a:endParaRPr lang="en-GB" sz="1100" b="0" u="none" strike="noStrike">
              <a:solidFill>
                <a:srgbClr val="FFFFFF"/>
              </a:solidFill>
              <a:effectLst/>
              <a:uFillTx/>
              <a:latin typeface="Arial"/>
            </a:endParaRPr>
          </a:p>
        </p:txBody>
      </p:sp>
      <p:sp>
        <p:nvSpPr>
          <p:cNvPr id="188" name="TextBox 34"/>
          <p:cNvSpPr/>
          <p:nvPr/>
        </p:nvSpPr>
        <p:spPr>
          <a:xfrm>
            <a:off x="6400800" y="5093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Capture:</a:t>
            </a:r>
            <a:endParaRPr lang="en-GB" sz="1100" b="0" u="none" strike="noStrike">
              <a:solidFill>
                <a:srgbClr val="FFFFFF"/>
              </a:solidFill>
              <a:effectLst/>
              <a:uFillTx/>
              <a:latin typeface="Arial"/>
            </a:endParaRPr>
          </a:p>
        </p:txBody>
      </p:sp>
      <p:sp>
        <p:nvSpPr>
          <p:cNvPr id="189" name="TextBox 35"/>
          <p:cNvSpPr/>
          <p:nvPr/>
        </p:nvSpPr>
        <p:spPr>
          <a:xfrm>
            <a:off x="7818120" y="5093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libpcap-format .pcap, pure Node.js, no tcpdump</a:t>
            </a:r>
            <a:endParaRPr lang="en-GB" sz="1100" b="0" u="none" strike="noStrike">
              <a:solidFill>
                <a:srgbClr val="FFFFFF"/>
              </a:solidFill>
              <a:effectLst/>
              <a:uFillTx/>
              <a:latin typeface="Arial"/>
            </a:endParaRPr>
          </a:p>
        </p:txBody>
      </p:sp>
      <p:sp>
        <p:nvSpPr>
          <p:cNvPr id="190" name="TextBox 36"/>
          <p:cNvSpPr/>
          <p:nvPr/>
        </p:nvSpPr>
        <p:spPr>
          <a:xfrm>
            <a:off x="6400800" y="5660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Cloud NAT:</a:t>
            </a:r>
            <a:endParaRPr lang="en-GB" sz="1100" b="0" u="none" strike="noStrike">
              <a:solidFill>
                <a:srgbClr val="FFFFFF"/>
              </a:solidFill>
              <a:effectLst/>
              <a:uFillTx/>
              <a:latin typeface="Arial"/>
            </a:endParaRPr>
          </a:p>
        </p:txBody>
      </p:sp>
      <p:sp>
        <p:nvSpPr>
          <p:cNvPr id="191" name="TextBox 37"/>
          <p:cNvSpPr/>
          <p:nvPr/>
        </p:nvSpPr>
        <p:spPr>
          <a:xfrm>
            <a:off x="7818120" y="5660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No audio HW needed - works on any cloud VM</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92"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Feature Set</a:t>
            </a:r>
            <a:endParaRPr lang="en-GB" sz="3400" b="0" u="none" strike="noStrike">
              <a:solidFill>
                <a:srgbClr val="FFFFFF"/>
              </a:solidFill>
              <a:effectLst/>
              <a:uFillTx/>
              <a:latin typeface="Arial"/>
            </a:endParaRPr>
          </a:p>
        </p:txBody>
      </p:sp>
      <p:sp>
        <p:nvSpPr>
          <p:cNvPr id="193"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94" name="Rectangle 3"/>
          <p:cNvSpPr/>
          <p:nvPr/>
        </p:nvSpPr>
        <p:spPr>
          <a:xfrm>
            <a:off x="4572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Rectangle 4"/>
          <p:cNvSpPr/>
          <p:nvPr/>
        </p:nvSpPr>
        <p:spPr>
          <a:xfrm>
            <a:off x="457200" y="1280160"/>
            <a:ext cx="36568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96" name="Rectangle 5"/>
          <p:cNvSpPr/>
          <p:nvPr/>
        </p:nvSpPr>
        <p:spPr>
          <a:xfrm>
            <a:off x="457200" y="1316880"/>
            <a:ext cx="45000" cy="2340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197" name="TextBox 6"/>
          <p:cNvSpPr/>
          <p:nvPr/>
        </p:nvSpPr>
        <p:spPr>
          <a:xfrm>
            <a:off x="5943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2563EB"/>
                </a:solidFill>
                <a:effectLst/>
                <a:uFillTx/>
                <a:latin typeface="Calibri Bold"/>
              </a:rPr>
              <a:t>Call Control</a:t>
            </a:r>
            <a:endParaRPr lang="en-GB" sz="1300" b="0" u="none" strike="noStrike">
              <a:solidFill>
                <a:srgbClr val="FFFFFF"/>
              </a:solidFill>
              <a:effectLst/>
              <a:uFillTx/>
              <a:latin typeface="Arial"/>
            </a:endParaRPr>
          </a:p>
        </p:txBody>
      </p:sp>
      <p:sp>
        <p:nvSpPr>
          <p:cNvPr id="198" name="Rectangle 7"/>
          <p:cNvSpPr/>
          <p:nvPr/>
        </p:nvSpPr>
        <p:spPr>
          <a:xfrm>
            <a:off x="594360" y="187452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99" name="TextBox 8"/>
          <p:cNvSpPr/>
          <p:nvPr/>
        </p:nvSpPr>
        <p:spPr>
          <a:xfrm>
            <a:off x="731520" y="18104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Outbound INVITE with custom SDP</a:t>
            </a:r>
            <a:endParaRPr lang="en-GB" sz="1050" b="0" u="none" strike="noStrike">
              <a:solidFill>
                <a:srgbClr val="FFFFFF"/>
              </a:solidFill>
              <a:effectLst/>
              <a:uFillTx/>
              <a:latin typeface="Arial"/>
            </a:endParaRPr>
          </a:p>
        </p:txBody>
      </p:sp>
      <p:sp>
        <p:nvSpPr>
          <p:cNvPr id="200" name="Rectangle 9"/>
          <p:cNvSpPr/>
          <p:nvPr/>
        </p:nvSpPr>
        <p:spPr>
          <a:xfrm>
            <a:off x="594360" y="229500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1" name="TextBox 10"/>
          <p:cNvSpPr/>
          <p:nvPr/>
        </p:nvSpPr>
        <p:spPr>
          <a:xfrm>
            <a:off x="7315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Inbound answer / reject</a:t>
            </a:r>
            <a:endParaRPr lang="en-GB" sz="1050" b="0" u="none" strike="noStrike">
              <a:solidFill>
                <a:srgbClr val="FFFFFF"/>
              </a:solidFill>
              <a:effectLst/>
              <a:uFillTx/>
              <a:latin typeface="Arial"/>
            </a:endParaRPr>
          </a:p>
        </p:txBody>
      </p:sp>
      <p:sp>
        <p:nvSpPr>
          <p:cNvPr id="202" name="Rectangle 11"/>
          <p:cNvSpPr/>
          <p:nvPr/>
        </p:nvSpPr>
        <p:spPr>
          <a:xfrm>
            <a:off x="594360" y="271584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3" name="TextBox 12"/>
          <p:cNvSpPr/>
          <p:nvPr/>
        </p:nvSpPr>
        <p:spPr>
          <a:xfrm>
            <a:off x="7315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Hold &amp; resume via re-INVITE</a:t>
            </a:r>
            <a:endParaRPr lang="en-GB" sz="1050" b="0" u="none" strike="noStrike">
              <a:solidFill>
                <a:srgbClr val="FFFFFF"/>
              </a:solidFill>
              <a:effectLst/>
              <a:uFillTx/>
              <a:latin typeface="Arial"/>
            </a:endParaRPr>
          </a:p>
        </p:txBody>
      </p:sp>
      <p:sp>
        <p:nvSpPr>
          <p:cNvPr id="204" name="Rectangle 13"/>
          <p:cNvSpPr/>
          <p:nvPr/>
        </p:nvSpPr>
        <p:spPr>
          <a:xfrm>
            <a:off x="594360" y="313632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5" name="TextBox 14"/>
          <p:cNvSpPr/>
          <p:nvPr/>
        </p:nvSpPr>
        <p:spPr>
          <a:xfrm>
            <a:off x="7315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DTMF RFC 2833</a:t>
            </a:r>
            <a:endParaRPr lang="en-GB" sz="1050" b="0" u="none" strike="noStrike">
              <a:solidFill>
                <a:srgbClr val="FFFFFF"/>
              </a:solidFill>
              <a:effectLst/>
              <a:uFillTx/>
              <a:latin typeface="Arial"/>
            </a:endParaRPr>
          </a:p>
        </p:txBody>
      </p:sp>
      <p:sp>
        <p:nvSpPr>
          <p:cNvPr id="206" name="Rectangle 15"/>
          <p:cNvSpPr/>
          <p:nvPr/>
        </p:nvSpPr>
        <p:spPr>
          <a:xfrm>
            <a:off x="43434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7" name="Rectangle 16"/>
          <p:cNvSpPr/>
          <p:nvPr/>
        </p:nvSpPr>
        <p:spPr>
          <a:xfrm>
            <a:off x="4343400" y="1280160"/>
            <a:ext cx="365688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08" name="Rectangle 17"/>
          <p:cNvSpPr/>
          <p:nvPr/>
        </p:nvSpPr>
        <p:spPr>
          <a:xfrm>
            <a:off x="4343400" y="1316880"/>
            <a:ext cx="45000" cy="2340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09" name="TextBox 18"/>
          <p:cNvSpPr/>
          <p:nvPr/>
        </p:nvSpPr>
        <p:spPr>
          <a:xfrm>
            <a:off x="44805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7C3AED"/>
                </a:solidFill>
                <a:effectLst/>
                <a:uFillTx/>
                <a:latin typeface="Calibri Bold"/>
              </a:rPr>
              <a:t>Transfer</a:t>
            </a:r>
            <a:endParaRPr lang="en-GB" sz="1300" b="0" u="none" strike="noStrike">
              <a:solidFill>
                <a:srgbClr val="FFFFFF"/>
              </a:solidFill>
              <a:effectLst/>
              <a:uFillTx/>
              <a:latin typeface="Arial"/>
            </a:endParaRPr>
          </a:p>
        </p:txBody>
      </p:sp>
      <p:sp>
        <p:nvSpPr>
          <p:cNvPr id="210" name="Rectangle 19"/>
          <p:cNvSpPr/>
          <p:nvPr/>
        </p:nvSpPr>
        <p:spPr>
          <a:xfrm>
            <a:off x="4480560" y="187452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1" name="TextBox 20"/>
          <p:cNvSpPr/>
          <p:nvPr/>
        </p:nvSpPr>
        <p:spPr>
          <a:xfrm>
            <a:off x="4617720" y="18104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Blind transfer (REFER)</a:t>
            </a:r>
            <a:endParaRPr lang="en-GB" sz="1050" b="0" u="none" strike="noStrike">
              <a:solidFill>
                <a:srgbClr val="FFFFFF"/>
              </a:solidFill>
              <a:effectLst/>
              <a:uFillTx/>
              <a:latin typeface="Arial"/>
            </a:endParaRPr>
          </a:p>
        </p:txBody>
      </p:sp>
      <p:sp>
        <p:nvSpPr>
          <p:cNvPr id="212" name="Rectangle 21"/>
          <p:cNvSpPr/>
          <p:nvPr/>
        </p:nvSpPr>
        <p:spPr>
          <a:xfrm>
            <a:off x="4480560" y="229500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3" name="TextBox 22"/>
          <p:cNvSpPr/>
          <p:nvPr/>
        </p:nvSpPr>
        <p:spPr>
          <a:xfrm>
            <a:off x="46177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Attended transfer (REFER+Replaces)</a:t>
            </a:r>
            <a:endParaRPr lang="en-GB" sz="1050" b="0" u="none" strike="noStrike">
              <a:solidFill>
                <a:srgbClr val="FFFFFF"/>
              </a:solidFill>
              <a:effectLst/>
              <a:uFillTx/>
              <a:latin typeface="Arial"/>
            </a:endParaRPr>
          </a:p>
        </p:txBody>
      </p:sp>
      <p:sp>
        <p:nvSpPr>
          <p:cNvPr id="214" name="Rectangle 23"/>
          <p:cNvSpPr/>
          <p:nvPr/>
        </p:nvSpPr>
        <p:spPr>
          <a:xfrm>
            <a:off x="4480560" y="271584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5" name="TextBox 24"/>
          <p:cNvSpPr/>
          <p:nvPr/>
        </p:nvSpPr>
        <p:spPr>
          <a:xfrm>
            <a:off x="46177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3-way conference bridge</a:t>
            </a:r>
            <a:endParaRPr lang="en-GB" sz="1050" b="0" u="none" strike="noStrike">
              <a:solidFill>
                <a:srgbClr val="FFFFFF"/>
              </a:solidFill>
              <a:effectLst/>
              <a:uFillTx/>
              <a:latin typeface="Arial"/>
            </a:endParaRPr>
          </a:p>
        </p:txBody>
      </p:sp>
      <p:sp>
        <p:nvSpPr>
          <p:cNvPr id="216" name="Rectangle 25"/>
          <p:cNvSpPr/>
          <p:nvPr/>
        </p:nvSpPr>
        <p:spPr>
          <a:xfrm>
            <a:off x="4480560" y="313632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7" name="TextBox 26"/>
          <p:cNvSpPr/>
          <p:nvPr/>
        </p:nvSpPr>
        <p:spPr>
          <a:xfrm>
            <a:off x="46177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Drop conference leg only</a:t>
            </a:r>
            <a:endParaRPr lang="en-GB" sz="1050" b="0" u="none" strike="noStrike">
              <a:solidFill>
                <a:srgbClr val="FFFFFF"/>
              </a:solidFill>
              <a:effectLst/>
              <a:uFillTx/>
              <a:latin typeface="Arial"/>
            </a:endParaRPr>
          </a:p>
        </p:txBody>
      </p:sp>
      <p:sp>
        <p:nvSpPr>
          <p:cNvPr id="218" name="Rectangle 27"/>
          <p:cNvSpPr/>
          <p:nvPr/>
        </p:nvSpPr>
        <p:spPr>
          <a:xfrm>
            <a:off x="82296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9" name="Rectangle 28"/>
          <p:cNvSpPr/>
          <p:nvPr/>
        </p:nvSpPr>
        <p:spPr>
          <a:xfrm>
            <a:off x="8229600" y="1280160"/>
            <a:ext cx="365688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20" name="Rectangle 29"/>
          <p:cNvSpPr/>
          <p:nvPr/>
        </p:nvSpPr>
        <p:spPr>
          <a:xfrm>
            <a:off x="8229600" y="1316880"/>
            <a:ext cx="45000" cy="2340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21" name="TextBox 30"/>
          <p:cNvSpPr/>
          <p:nvPr/>
        </p:nvSpPr>
        <p:spPr>
          <a:xfrm>
            <a:off x="83667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D97706"/>
                </a:solidFill>
                <a:effectLst/>
                <a:uFillTx/>
                <a:latin typeface="Calibri Bold"/>
              </a:rPr>
              <a:t>WAV Playback</a:t>
            </a:r>
            <a:endParaRPr lang="en-GB" sz="1300" b="0" u="none" strike="noStrike">
              <a:solidFill>
                <a:srgbClr val="FFFFFF"/>
              </a:solidFill>
              <a:effectLst/>
              <a:uFillTx/>
              <a:latin typeface="Arial"/>
            </a:endParaRPr>
          </a:p>
        </p:txBody>
      </p:sp>
      <p:sp>
        <p:nvSpPr>
          <p:cNvPr id="222" name="Rectangle 31"/>
          <p:cNvSpPr/>
          <p:nvPr/>
        </p:nvSpPr>
        <p:spPr>
          <a:xfrm>
            <a:off x="8366760" y="187452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3" name="TextBox 32"/>
          <p:cNvSpPr/>
          <p:nvPr/>
        </p:nvSpPr>
        <p:spPr>
          <a:xfrm>
            <a:off x="8503920" y="181044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Upload any WAV - auto G.722 convert</a:t>
            </a:r>
            <a:endParaRPr lang="en-GB" sz="1050" b="0" u="none" strike="noStrike">
              <a:solidFill>
                <a:srgbClr val="FFFFFF"/>
              </a:solidFill>
              <a:effectLst/>
              <a:uFillTx/>
              <a:latin typeface="Arial"/>
            </a:endParaRPr>
          </a:p>
        </p:txBody>
      </p:sp>
      <p:sp>
        <p:nvSpPr>
          <p:cNvPr id="224" name="Rectangle 33"/>
          <p:cNvSpPr/>
          <p:nvPr/>
        </p:nvSpPr>
        <p:spPr>
          <a:xfrm>
            <a:off x="8366760" y="229500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5" name="TextBox 34"/>
          <p:cNvSpPr/>
          <p:nvPr/>
        </p:nvSpPr>
        <p:spPr>
          <a:xfrm>
            <a:off x="85039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Inject into live RTP stream</a:t>
            </a:r>
            <a:endParaRPr lang="en-GB" sz="1050" b="0" u="none" strike="noStrike">
              <a:solidFill>
                <a:srgbClr val="FFFFFF"/>
              </a:solidFill>
              <a:effectLst/>
              <a:uFillTx/>
              <a:latin typeface="Arial"/>
            </a:endParaRPr>
          </a:p>
        </p:txBody>
      </p:sp>
      <p:sp>
        <p:nvSpPr>
          <p:cNvPr id="226" name="Rectangle 35"/>
          <p:cNvSpPr/>
          <p:nvPr/>
        </p:nvSpPr>
        <p:spPr>
          <a:xfrm>
            <a:off x="8366760" y="271584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7" name="TextBox 36"/>
          <p:cNvSpPr/>
          <p:nvPr/>
        </p:nvSpPr>
        <p:spPr>
          <a:xfrm>
            <a:off x="85039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Syncs to stream SSRC/seq/ts</a:t>
            </a:r>
            <a:endParaRPr lang="en-GB" sz="1050" b="0" u="none" strike="noStrike">
              <a:solidFill>
                <a:srgbClr val="FFFFFF"/>
              </a:solidFill>
              <a:effectLst/>
              <a:uFillTx/>
              <a:latin typeface="Arial"/>
            </a:endParaRPr>
          </a:p>
        </p:txBody>
      </p:sp>
      <p:sp>
        <p:nvSpPr>
          <p:cNvPr id="228" name="Rectangle 37"/>
          <p:cNvSpPr/>
          <p:nvPr/>
        </p:nvSpPr>
        <p:spPr>
          <a:xfrm>
            <a:off x="8366760" y="313632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9" name="TextBox 38"/>
          <p:cNvSpPr/>
          <p:nvPr/>
        </p:nvSpPr>
        <p:spPr>
          <a:xfrm>
            <a:off x="85039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Play · Stop via API</a:t>
            </a:r>
            <a:endParaRPr lang="en-GB" sz="1050" b="0" u="none" strike="noStrike">
              <a:solidFill>
                <a:srgbClr val="FFFFFF"/>
              </a:solidFill>
              <a:effectLst/>
              <a:uFillTx/>
              <a:latin typeface="Arial"/>
            </a:endParaRPr>
          </a:p>
        </p:txBody>
      </p:sp>
      <p:sp>
        <p:nvSpPr>
          <p:cNvPr id="230" name="Rectangle 39"/>
          <p:cNvSpPr/>
          <p:nvPr/>
        </p:nvSpPr>
        <p:spPr>
          <a:xfrm>
            <a:off x="4572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Rectangle 40"/>
          <p:cNvSpPr/>
          <p:nvPr/>
        </p:nvSpPr>
        <p:spPr>
          <a:xfrm>
            <a:off x="457200" y="3931920"/>
            <a:ext cx="365688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32" name="Rectangle 41"/>
          <p:cNvSpPr/>
          <p:nvPr/>
        </p:nvSpPr>
        <p:spPr>
          <a:xfrm>
            <a:off x="457200" y="3968640"/>
            <a:ext cx="45000" cy="2340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33" name="TextBox 42"/>
          <p:cNvSpPr/>
          <p:nvPr/>
        </p:nvSpPr>
        <p:spPr>
          <a:xfrm>
            <a:off x="5943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59669"/>
                </a:solidFill>
                <a:effectLst/>
                <a:uFillTx/>
                <a:latin typeface="Calibri Bold"/>
              </a:rPr>
              <a:t>Packet Capture</a:t>
            </a:r>
            <a:endParaRPr lang="en-GB" sz="1300" b="0" u="none" strike="noStrike">
              <a:solidFill>
                <a:srgbClr val="FFFFFF"/>
              </a:solidFill>
              <a:effectLst/>
              <a:uFillTx/>
              <a:latin typeface="Arial"/>
            </a:endParaRPr>
          </a:p>
        </p:txBody>
      </p:sp>
      <p:sp>
        <p:nvSpPr>
          <p:cNvPr id="234" name="Rectangle 43"/>
          <p:cNvSpPr/>
          <p:nvPr/>
        </p:nvSpPr>
        <p:spPr>
          <a:xfrm>
            <a:off x="594360" y="452628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5" name="TextBox 44"/>
          <p:cNvSpPr/>
          <p:nvPr/>
        </p:nvSpPr>
        <p:spPr>
          <a:xfrm>
            <a:off x="731520" y="44622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Per-call .pcap (libpcap format)</a:t>
            </a:r>
            <a:endParaRPr lang="en-GB" sz="1050" b="0" u="none" strike="noStrike">
              <a:solidFill>
                <a:srgbClr val="FFFFFF"/>
              </a:solidFill>
              <a:effectLst/>
              <a:uFillTx/>
              <a:latin typeface="Arial"/>
            </a:endParaRPr>
          </a:p>
        </p:txBody>
      </p:sp>
      <p:sp>
        <p:nvSpPr>
          <p:cNvPr id="236" name="Rectangle 45"/>
          <p:cNvSpPr/>
          <p:nvPr/>
        </p:nvSpPr>
        <p:spPr>
          <a:xfrm>
            <a:off x="594360" y="494676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7" name="TextBox 46"/>
          <p:cNvSpPr/>
          <p:nvPr/>
        </p:nvSpPr>
        <p:spPr>
          <a:xfrm>
            <a:off x="7315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Wireshark-compatible</a:t>
            </a:r>
            <a:endParaRPr lang="en-GB" sz="1050" b="0" u="none" strike="noStrike">
              <a:solidFill>
                <a:srgbClr val="FFFFFF"/>
              </a:solidFill>
              <a:effectLst/>
              <a:uFillTx/>
              <a:latin typeface="Arial"/>
            </a:endParaRPr>
          </a:p>
        </p:txBody>
      </p:sp>
      <p:sp>
        <p:nvSpPr>
          <p:cNvPr id="238" name="Rectangle 47"/>
          <p:cNvSpPr/>
          <p:nvPr/>
        </p:nvSpPr>
        <p:spPr>
          <a:xfrm>
            <a:off x="594360" y="536760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9" name="TextBox 48"/>
          <p:cNvSpPr/>
          <p:nvPr/>
        </p:nvSpPr>
        <p:spPr>
          <a:xfrm>
            <a:off x="7315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Inbound RTP decoded to .wav</a:t>
            </a:r>
            <a:endParaRPr lang="en-GB" sz="1050" b="0" u="none" strike="noStrike">
              <a:solidFill>
                <a:srgbClr val="FFFFFF"/>
              </a:solidFill>
              <a:effectLst/>
              <a:uFillTx/>
              <a:latin typeface="Arial"/>
            </a:endParaRPr>
          </a:p>
        </p:txBody>
      </p:sp>
      <p:sp>
        <p:nvSpPr>
          <p:cNvPr id="240" name="Rectangle 49"/>
          <p:cNvSpPr/>
          <p:nvPr/>
        </p:nvSpPr>
        <p:spPr>
          <a:xfrm>
            <a:off x="594360" y="578808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1" name="TextBox 50"/>
          <p:cNvSpPr/>
          <p:nvPr/>
        </p:nvSpPr>
        <p:spPr>
          <a:xfrm>
            <a:off x="7315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Download via UI or API</a:t>
            </a:r>
            <a:endParaRPr lang="en-GB" sz="1050" b="0" u="none" strike="noStrike">
              <a:solidFill>
                <a:srgbClr val="FFFFFF"/>
              </a:solidFill>
              <a:effectLst/>
              <a:uFillTx/>
              <a:latin typeface="Arial"/>
            </a:endParaRPr>
          </a:p>
        </p:txBody>
      </p:sp>
      <p:sp>
        <p:nvSpPr>
          <p:cNvPr id="242" name="Rectangle 51"/>
          <p:cNvSpPr/>
          <p:nvPr/>
        </p:nvSpPr>
        <p:spPr>
          <a:xfrm>
            <a:off x="43434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 name="Rectangle 52"/>
          <p:cNvSpPr/>
          <p:nvPr/>
        </p:nvSpPr>
        <p:spPr>
          <a:xfrm>
            <a:off x="4343400" y="3931920"/>
            <a:ext cx="3656880" cy="36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44" name="Rectangle 53"/>
          <p:cNvSpPr/>
          <p:nvPr/>
        </p:nvSpPr>
        <p:spPr>
          <a:xfrm>
            <a:off x="4343400" y="3968640"/>
            <a:ext cx="45000" cy="2340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45" name="TextBox 54"/>
          <p:cNvSpPr/>
          <p:nvPr/>
        </p:nvSpPr>
        <p:spPr>
          <a:xfrm>
            <a:off x="44805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History &amp; Logging</a:t>
            </a:r>
            <a:endParaRPr lang="en-GB" sz="1300" b="0" u="none" strike="noStrike">
              <a:solidFill>
                <a:srgbClr val="FFFFFF"/>
              </a:solidFill>
              <a:effectLst/>
              <a:uFillTx/>
              <a:latin typeface="Arial"/>
            </a:endParaRPr>
          </a:p>
        </p:txBody>
      </p:sp>
      <p:sp>
        <p:nvSpPr>
          <p:cNvPr id="246" name="Rectangle 55"/>
          <p:cNvSpPr/>
          <p:nvPr/>
        </p:nvSpPr>
        <p:spPr>
          <a:xfrm>
            <a:off x="4480560" y="452628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7" name="TextBox 56"/>
          <p:cNvSpPr/>
          <p:nvPr/>
        </p:nvSpPr>
        <p:spPr>
          <a:xfrm>
            <a:off x="4617720" y="44622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Persistent call history (JSON)</a:t>
            </a:r>
            <a:endParaRPr lang="en-GB" sz="1050" b="0" u="none" strike="noStrike">
              <a:solidFill>
                <a:srgbClr val="FFFFFF"/>
              </a:solidFill>
              <a:effectLst/>
              <a:uFillTx/>
              <a:latin typeface="Arial"/>
            </a:endParaRPr>
          </a:p>
        </p:txBody>
      </p:sp>
      <p:sp>
        <p:nvSpPr>
          <p:cNvPr id="248" name="Rectangle 57"/>
          <p:cNvSpPr/>
          <p:nvPr/>
        </p:nvSpPr>
        <p:spPr>
          <a:xfrm>
            <a:off x="4480560" y="494676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9" name="TextBox 58"/>
          <p:cNvSpPr/>
          <p:nvPr/>
        </p:nvSpPr>
        <p:spPr>
          <a:xfrm>
            <a:off x="46177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CSV export</a:t>
            </a:r>
            <a:endParaRPr lang="en-GB" sz="1050" b="0" u="none" strike="noStrike">
              <a:solidFill>
                <a:srgbClr val="FFFFFF"/>
              </a:solidFill>
              <a:effectLst/>
              <a:uFillTx/>
              <a:latin typeface="Arial"/>
            </a:endParaRPr>
          </a:p>
        </p:txBody>
      </p:sp>
      <p:sp>
        <p:nvSpPr>
          <p:cNvPr id="250" name="Rectangle 59"/>
          <p:cNvSpPr/>
          <p:nvPr/>
        </p:nvSpPr>
        <p:spPr>
          <a:xfrm>
            <a:off x="4480560" y="536760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1" name="TextBox 60"/>
          <p:cNvSpPr/>
          <p:nvPr/>
        </p:nvSpPr>
        <p:spPr>
          <a:xfrm>
            <a:off x="46177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Real-time system log</a:t>
            </a:r>
            <a:endParaRPr lang="en-GB" sz="1050" b="0" u="none" strike="noStrike">
              <a:solidFill>
                <a:srgbClr val="FFFFFF"/>
              </a:solidFill>
              <a:effectLst/>
              <a:uFillTx/>
              <a:latin typeface="Arial"/>
            </a:endParaRPr>
          </a:p>
        </p:txBody>
      </p:sp>
      <p:sp>
        <p:nvSpPr>
          <p:cNvPr id="252" name="Rectangle 61"/>
          <p:cNvSpPr/>
          <p:nvPr/>
        </p:nvSpPr>
        <p:spPr>
          <a:xfrm>
            <a:off x="4480560" y="578808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3" name="TextBox 62"/>
          <p:cNvSpPr/>
          <p:nvPr/>
        </p:nvSpPr>
        <p:spPr>
          <a:xfrm>
            <a:off x="46177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Expandable log panel in UI</a:t>
            </a:r>
            <a:endParaRPr lang="en-GB" sz="1050" b="0" u="none" strike="noStrike">
              <a:solidFill>
                <a:srgbClr val="FFFFFF"/>
              </a:solidFill>
              <a:effectLst/>
              <a:uFillTx/>
              <a:latin typeface="Arial"/>
            </a:endParaRPr>
          </a:p>
        </p:txBody>
      </p:sp>
      <p:sp>
        <p:nvSpPr>
          <p:cNvPr id="254" name="Rectangle 63"/>
          <p:cNvSpPr/>
          <p:nvPr/>
        </p:nvSpPr>
        <p:spPr>
          <a:xfrm>
            <a:off x="82296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 name="Rectangle 64"/>
          <p:cNvSpPr/>
          <p:nvPr/>
        </p:nvSpPr>
        <p:spPr>
          <a:xfrm>
            <a:off x="8229600" y="3931920"/>
            <a:ext cx="3656880" cy="3600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56" name="Rectangle 65"/>
          <p:cNvSpPr/>
          <p:nvPr/>
        </p:nvSpPr>
        <p:spPr>
          <a:xfrm>
            <a:off x="8229600" y="3968640"/>
            <a:ext cx="45000" cy="234000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57" name="TextBox 66"/>
          <p:cNvSpPr/>
          <p:nvPr/>
        </p:nvSpPr>
        <p:spPr>
          <a:xfrm>
            <a:off x="83667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678DB"/>
                </a:solidFill>
                <a:effectLst/>
                <a:uFillTx/>
                <a:latin typeface="Calibri Bold"/>
              </a:rPr>
              <a:t>REST API</a:t>
            </a:r>
            <a:endParaRPr lang="en-GB" sz="1300" b="0" u="none" strike="noStrike">
              <a:solidFill>
                <a:srgbClr val="FFFFFF"/>
              </a:solidFill>
              <a:effectLst/>
              <a:uFillTx/>
              <a:latin typeface="Arial"/>
            </a:endParaRPr>
          </a:p>
        </p:txBody>
      </p:sp>
      <p:sp>
        <p:nvSpPr>
          <p:cNvPr id="258" name="Rectangle 67"/>
          <p:cNvSpPr/>
          <p:nvPr/>
        </p:nvSpPr>
        <p:spPr>
          <a:xfrm>
            <a:off x="8366760" y="452628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9" name="TextBox 68"/>
          <p:cNvSpPr/>
          <p:nvPr/>
        </p:nvSpPr>
        <p:spPr>
          <a:xfrm>
            <a:off x="8503920" y="446220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24 endpoints - fully documented</a:t>
            </a:r>
            <a:endParaRPr lang="en-GB" sz="1050" b="0" u="none" strike="noStrike">
              <a:solidFill>
                <a:srgbClr val="FFFFFF"/>
              </a:solidFill>
              <a:effectLst/>
              <a:uFillTx/>
              <a:latin typeface="Arial"/>
            </a:endParaRPr>
          </a:p>
        </p:txBody>
      </p:sp>
      <p:sp>
        <p:nvSpPr>
          <p:cNvPr id="260" name="Rectangle 69"/>
          <p:cNvSpPr/>
          <p:nvPr/>
        </p:nvSpPr>
        <p:spPr>
          <a:xfrm>
            <a:off x="8366760" y="494676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1" name="TextBox 70"/>
          <p:cNvSpPr/>
          <p:nvPr/>
        </p:nvSpPr>
        <p:spPr>
          <a:xfrm>
            <a:off x="85039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OpenAPI 3.1 spec included</a:t>
            </a:r>
            <a:endParaRPr lang="en-GB" sz="1050" b="0" u="none" strike="noStrike">
              <a:solidFill>
                <a:srgbClr val="FFFFFF"/>
              </a:solidFill>
              <a:effectLst/>
              <a:uFillTx/>
              <a:latin typeface="Arial"/>
            </a:endParaRPr>
          </a:p>
        </p:txBody>
      </p:sp>
      <p:sp>
        <p:nvSpPr>
          <p:cNvPr id="262" name="Rectangle 71"/>
          <p:cNvSpPr/>
          <p:nvPr/>
        </p:nvSpPr>
        <p:spPr>
          <a:xfrm>
            <a:off x="8366760" y="536760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3" name="TextBox 72"/>
          <p:cNvSpPr/>
          <p:nvPr/>
        </p:nvSpPr>
        <p:spPr>
          <a:xfrm>
            <a:off x="85039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WebSocket real-time events</a:t>
            </a:r>
            <a:endParaRPr lang="en-GB" sz="1050" b="0" u="none" strike="noStrike">
              <a:solidFill>
                <a:srgbClr val="FFFFFF"/>
              </a:solidFill>
              <a:effectLst/>
              <a:uFillTx/>
              <a:latin typeface="Arial"/>
            </a:endParaRPr>
          </a:p>
        </p:txBody>
      </p:sp>
      <p:sp>
        <p:nvSpPr>
          <p:cNvPr id="264" name="Rectangle 73"/>
          <p:cNvSpPr/>
          <p:nvPr/>
        </p:nvSpPr>
        <p:spPr>
          <a:xfrm>
            <a:off x="8366760" y="578808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5" name="TextBox 74"/>
          <p:cNvSpPr/>
          <p:nvPr/>
        </p:nvSpPr>
        <p:spPr>
          <a:xfrm>
            <a:off x="85039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Headless / CI/CD ready</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266"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REST API &amp; WebSocket Events</a:t>
            </a:r>
            <a:endParaRPr lang="en-GB" sz="3400" b="0" u="none" strike="noStrike">
              <a:solidFill>
                <a:srgbClr val="FFFFFF"/>
              </a:solidFill>
              <a:effectLst/>
              <a:uFillTx/>
              <a:latin typeface="Arial"/>
            </a:endParaRPr>
          </a:p>
        </p:txBody>
      </p:sp>
      <p:sp>
        <p:nvSpPr>
          <p:cNvPr id="267"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68" name="TextBox 3"/>
          <p:cNvSpPr/>
          <p:nvPr/>
        </p:nvSpPr>
        <p:spPr>
          <a:xfrm>
            <a:off x="548640" y="1143000"/>
            <a:ext cx="109720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REST Endpoints  (24 total · OpenAPI 3.1 spec included)</a:t>
            </a:r>
            <a:endParaRPr lang="en-GB" sz="1300" b="0" u="none" strike="noStrike">
              <a:solidFill>
                <a:srgbClr val="FFFFFF"/>
              </a:solidFill>
              <a:effectLst/>
              <a:uFillTx/>
              <a:latin typeface="Arial"/>
            </a:endParaRPr>
          </a:p>
        </p:txBody>
      </p:sp>
      <p:sp>
        <p:nvSpPr>
          <p:cNvPr id="269" name="Rectangle 4"/>
          <p:cNvSpPr/>
          <p:nvPr/>
        </p:nvSpPr>
        <p:spPr>
          <a:xfrm>
            <a:off x="548640" y="16002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5"/>
          <p:cNvSpPr/>
          <p:nvPr/>
        </p:nvSpPr>
        <p:spPr>
          <a:xfrm>
            <a:off x="640080" y="16549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Registration</a:t>
            </a:r>
            <a:endParaRPr lang="en-GB" sz="1000" b="0" u="none" strike="noStrike">
              <a:solidFill>
                <a:srgbClr val="FFFFFF"/>
              </a:solidFill>
              <a:effectLst/>
              <a:uFillTx/>
              <a:latin typeface="Arial"/>
            </a:endParaRPr>
          </a:p>
        </p:txBody>
      </p:sp>
      <p:sp>
        <p:nvSpPr>
          <p:cNvPr id="271" name="TextBox 6"/>
          <p:cNvSpPr/>
          <p:nvPr/>
        </p:nvSpPr>
        <p:spPr>
          <a:xfrm>
            <a:off x="2514600" y="16459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/api/status · POST /api/register · POST /api/unregister</a:t>
            </a:r>
            <a:endParaRPr lang="en-GB" sz="1000" b="0" u="none" strike="noStrike">
              <a:solidFill>
                <a:srgbClr val="FFFFFF"/>
              </a:solidFill>
              <a:effectLst/>
              <a:uFillTx/>
              <a:latin typeface="Arial"/>
            </a:endParaRPr>
          </a:p>
        </p:txBody>
      </p:sp>
      <p:sp>
        <p:nvSpPr>
          <p:cNvPr id="272" name="Rectangle 7"/>
          <p:cNvSpPr/>
          <p:nvPr/>
        </p:nvSpPr>
        <p:spPr>
          <a:xfrm>
            <a:off x="548640" y="19933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73" name="Rectangle 8"/>
          <p:cNvSpPr/>
          <p:nvPr/>
        </p:nvSpPr>
        <p:spPr>
          <a:xfrm>
            <a:off x="548640" y="209412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 name="TextBox 9"/>
          <p:cNvSpPr/>
          <p:nvPr/>
        </p:nvSpPr>
        <p:spPr>
          <a:xfrm>
            <a:off x="640080" y="21488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Calls</a:t>
            </a:r>
            <a:endParaRPr lang="en-GB" sz="1000" b="0" u="none" strike="noStrike">
              <a:solidFill>
                <a:srgbClr val="FFFFFF"/>
              </a:solidFill>
              <a:effectLst/>
              <a:uFillTx/>
              <a:latin typeface="Arial"/>
            </a:endParaRPr>
          </a:p>
        </p:txBody>
      </p:sp>
      <p:sp>
        <p:nvSpPr>
          <p:cNvPr id="275" name="TextBox 10"/>
          <p:cNvSpPr/>
          <p:nvPr/>
        </p:nvSpPr>
        <p:spPr>
          <a:xfrm>
            <a:off x="2514600" y="213984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/api/call · /api/answer · /api/hangup · /api/reject · /api/dtmf</a:t>
            </a:r>
            <a:endParaRPr lang="en-GB" sz="1000" b="0" u="none" strike="noStrike">
              <a:solidFill>
                <a:srgbClr val="FFFFFF"/>
              </a:solidFill>
              <a:effectLst/>
              <a:uFillTx/>
              <a:latin typeface="Arial"/>
            </a:endParaRPr>
          </a:p>
        </p:txBody>
      </p:sp>
      <p:sp>
        <p:nvSpPr>
          <p:cNvPr id="276" name="Rectangle 11"/>
          <p:cNvSpPr/>
          <p:nvPr/>
        </p:nvSpPr>
        <p:spPr>
          <a:xfrm>
            <a:off x="548640" y="248724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77" name="Rectangle 12"/>
          <p:cNvSpPr/>
          <p:nvPr/>
        </p:nvSpPr>
        <p:spPr>
          <a:xfrm>
            <a:off x="548640" y="258768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8" name="TextBox 13"/>
          <p:cNvSpPr/>
          <p:nvPr/>
        </p:nvSpPr>
        <p:spPr>
          <a:xfrm>
            <a:off x="640080" y="264276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Hold</a:t>
            </a:r>
            <a:endParaRPr lang="en-GB" sz="1000" b="0" u="none" strike="noStrike">
              <a:solidFill>
                <a:srgbClr val="FFFFFF"/>
              </a:solidFill>
              <a:effectLst/>
              <a:uFillTx/>
              <a:latin typeface="Arial"/>
            </a:endParaRPr>
          </a:p>
        </p:txBody>
      </p:sp>
      <p:sp>
        <p:nvSpPr>
          <p:cNvPr id="279" name="TextBox 14"/>
          <p:cNvSpPr/>
          <p:nvPr/>
        </p:nvSpPr>
        <p:spPr>
          <a:xfrm>
            <a:off x="2514600" y="263340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/api/hold · POST /api/resume</a:t>
            </a:r>
            <a:endParaRPr lang="en-GB" sz="1000" b="0" u="none" strike="noStrike">
              <a:solidFill>
                <a:srgbClr val="FFFFFF"/>
              </a:solidFill>
              <a:effectLst/>
              <a:uFillTx/>
              <a:latin typeface="Arial"/>
            </a:endParaRPr>
          </a:p>
        </p:txBody>
      </p:sp>
      <p:sp>
        <p:nvSpPr>
          <p:cNvPr id="280" name="Rectangle 15"/>
          <p:cNvSpPr/>
          <p:nvPr/>
        </p:nvSpPr>
        <p:spPr>
          <a:xfrm>
            <a:off x="548640" y="298080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1" name="Rectangle 16"/>
          <p:cNvSpPr/>
          <p:nvPr/>
        </p:nvSpPr>
        <p:spPr>
          <a:xfrm>
            <a:off x="548640" y="30816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2" name="TextBox 17"/>
          <p:cNvSpPr/>
          <p:nvPr/>
        </p:nvSpPr>
        <p:spPr>
          <a:xfrm>
            <a:off x="640080" y="31363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Transfer</a:t>
            </a:r>
            <a:endParaRPr lang="en-GB" sz="1000" b="0" u="none" strike="noStrike">
              <a:solidFill>
                <a:srgbClr val="FFFFFF"/>
              </a:solidFill>
              <a:effectLst/>
              <a:uFillTx/>
              <a:latin typeface="Arial"/>
            </a:endParaRPr>
          </a:p>
        </p:txBody>
      </p:sp>
      <p:sp>
        <p:nvSpPr>
          <p:cNvPr id="283" name="TextBox 18"/>
          <p:cNvSpPr/>
          <p:nvPr/>
        </p:nvSpPr>
        <p:spPr>
          <a:xfrm>
            <a:off x="2514600" y="31273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/api/transfer/blind · POST /api/transfer/attended</a:t>
            </a:r>
            <a:endParaRPr lang="en-GB" sz="1000" b="0" u="none" strike="noStrike">
              <a:solidFill>
                <a:srgbClr val="FFFFFF"/>
              </a:solidFill>
              <a:effectLst/>
              <a:uFillTx/>
              <a:latin typeface="Arial"/>
            </a:endParaRPr>
          </a:p>
        </p:txBody>
      </p:sp>
      <p:sp>
        <p:nvSpPr>
          <p:cNvPr id="284" name="Rectangle 19"/>
          <p:cNvSpPr/>
          <p:nvPr/>
        </p:nvSpPr>
        <p:spPr>
          <a:xfrm>
            <a:off x="548640" y="34747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5" name="Rectangle 20"/>
          <p:cNvSpPr/>
          <p:nvPr/>
        </p:nvSpPr>
        <p:spPr>
          <a:xfrm>
            <a:off x="548640" y="357516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6" name="TextBox 21"/>
          <p:cNvSpPr/>
          <p:nvPr/>
        </p:nvSpPr>
        <p:spPr>
          <a:xfrm>
            <a:off x="640080" y="36302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Conference</a:t>
            </a:r>
            <a:endParaRPr lang="en-GB" sz="1000" b="0" u="none" strike="noStrike">
              <a:solidFill>
                <a:srgbClr val="FFFFFF"/>
              </a:solidFill>
              <a:effectLst/>
              <a:uFillTx/>
              <a:latin typeface="Arial"/>
            </a:endParaRPr>
          </a:p>
        </p:txBody>
      </p:sp>
      <p:sp>
        <p:nvSpPr>
          <p:cNvPr id="287" name="TextBox 22"/>
          <p:cNvSpPr/>
          <p:nvPr/>
        </p:nvSpPr>
        <p:spPr>
          <a:xfrm>
            <a:off x="2514600" y="362088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/api/conference · POST /api/conference/end</a:t>
            </a:r>
            <a:endParaRPr lang="en-GB" sz="1000" b="0" u="none" strike="noStrike">
              <a:solidFill>
                <a:srgbClr val="FFFFFF"/>
              </a:solidFill>
              <a:effectLst/>
              <a:uFillTx/>
              <a:latin typeface="Arial"/>
            </a:endParaRPr>
          </a:p>
        </p:txBody>
      </p:sp>
      <p:sp>
        <p:nvSpPr>
          <p:cNvPr id="288" name="Rectangle 23"/>
          <p:cNvSpPr/>
          <p:nvPr/>
        </p:nvSpPr>
        <p:spPr>
          <a:xfrm>
            <a:off x="548640" y="396864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9" name="Rectangle 24"/>
          <p:cNvSpPr/>
          <p:nvPr/>
        </p:nvSpPr>
        <p:spPr>
          <a:xfrm>
            <a:off x="548640" y="406908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0" name="TextBox 25"/>
          <p:cNvSpPr/>
          <p:nvPr/>
        </p:nvSpPr>
        <p:spPr>
          <a:xfrm>
            <a:off x="640080" y="412380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WAV Playback</a:t>
            </a:r>
            <a:endParaRPr lang="en-GB" sz="1000" b="0" u="none" strike="noStrike">
              <a:solidFill>
                <a:srgbClr val="FFFFFF"/>
              </a:solidFill>
              <a:effectLst/>
              <a:uFillTx/>
              <a:latin typeface="Arial"/>
            </a:endParaRPr>
          </a:p>
        </p:txBody>
      </p:sp>
      <p:sp>
        <p:nvSpPr>
          <p:cNvPr id="291" name="TextBox 26"/>
          <p:cNvSpPr/>
          <p:nvPr/>
        </p:nvSpPr>
        <p:spPr>
          <a:xfrm>
            <a:off x="2514600" y="411480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/api/wavfiles · POST /api/wavfiles/upload · POST /api/play · POST /api/play/stop</a:t>
            </a:r>
            <a:endParaRPr lang="en-GB" sz="1000" b="0" u="none" strike="noStrike">
              <a:solidFill>
                <a:srgbClr val="FFFFFF"/>
              </a:solidFill>
              <a:effectLst/>
              <a:uFillTx/>
              <a:latin typeface="Arial"/>
            </a:endParaRPr>
          </a:p>
        </p:txBody>
      </p:sp>
      <p:sp>
        <p:nvSpPr>
          <p:cNvPr id="292" name="Rectangle 27"/>
          <p:cNvSpPr/>
          <p:nvPr/>
        </p:nvSpPr>
        <p:spPr>
          <a:xfrm>
            <a:off x="548640" y="446220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93" name="Rectangle 28"/>
          <p:cNvSpPr/>
          <p:nvPr/>
        </p:nvSpPr>
        <p:spPr>
          <a:xfrm>
            <a:off x="548640" y="45630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4" name="TextBox 29"/>
          <p:cNvSpPr/>
          <p:nvPr/>
        </p:nvSpPr>
        <p:spPr>
          <a:xfrm>
            <a:off x="640080" y="46177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Captures</a:t>
            </a:r>
            <a:endParaRPr lang="en-GB" sz="1000" b="0" u="none" strike="noStrike">
              <a:solidFill>
                <a:srgbClr val="FFFFFF"/>
              </a:solidFill>
              <a:effectLst/>
              <a:uFillTx/>
              <a:latin typeface="Arial"/>
            </a:endParaRPr>
          </a:p>
        </p:txBody>
      </p:sp>
      <p:sp>
        <p:nvSpPr>
          <p:cNvPr id="295" name="TextBox 30"/>
          <p:cNvSpPr/>
          <p:nvPr/>
        </p:nvSpPr>
        <p:spPr>
          <a:xfrm>
            <a:off x="2514600" y="46087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/api/captures · DELETE /api/captures/:filename</a:t>
            </a:r>
            <a:endParaRPr lang="en-GB" sz="1000" b="0" u="none" strike="noStrike">
              <a:solidFill>
                <a:srgbClr val="FFFFFF"/>
              </a:solidFill>
              <a:effectLst/>
              <a:uFillTx/>
              <a:latin typeface="Arial"/>
            </a:endParaRPr>
          </a:p>
        </p:txBody>
      </p:sp>
      <p:sp>
        <p:nvSpPr>
          <p:cNvPr id="296" name="Rectangle 31"/>
          <p:cNvSpPr/>
          <p:nvPr/>
        </p:nvSpPr>
        <p:spPr>
          <a:xfrm>
            <a:off x="548640" y="49561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97" name="Rectangle 32"/>
          <p:cNvSpPr/>
          <p:nvPr/>
        </p:nvSpPr>
        <p:spPr>
          <a:xfrm>
            <a:off x="548640" y="505656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8" name="TextBox 33"/>
          <p:cNvSpPr/>
          <p:nvPr/>
        </p:nvSpPr>
        <p:spPr>
          <a:xfrm>
            <a:off x="640080" y="51116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History/Logs</a:t>
            </a:r>
            <a:endParaRPr lang="en-GB" sz="1000" b="0" u="none" strike="noStrike">
              <a:solidFill>
                <a:srgbClr val="FFFFFF"/>
              </a:solidFill>
              <a:effectLst/>
              <a:uFillTx/>
              <a:latin typeface="Arial"/>
            </a:endParaRPr>
          </a:p>
        </p:txBody>
      </p:sp>
      <p:sp>
        <p:nvSpPr>
          <p:cNvPr id="299" name="TextBox 34"/>
          <p:cNvSpPr/>
          <p:nvPr/>
        </p:nvSpPr>
        <p:spPr>
          <a:xfrm>
            <a:off x="2514600" y="510228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/api/history · GET /api/history/export · DELETE /api/history · GET /api/log/export</a:t>
            </a:r>
            <a:endParaRPr lang="en-GB" sz="1000" b="0" u="none" strike="noStrike">
              <a:solidFill>
                <a:srgbClr val="FFFFFF"/>
              </a:solidFill>
              <a:effectLst/>
              <a:uFillTx/>
              <a:latin typeface="Arial"/>
            </a:endParaRPr>
          </a:p>
        </p:txBody>
      </p:sp>
      <p:sp>
        <p:nvSpPr>
          <p:cNvPr id="300" name="Rectangle 35"/>
          <p:cNvSpPr/>
          <p:nvPr/>
        </p:nvSpPr>
        <p:spPr>
          <a:xfrm>
            <a:off x="548640" y="544968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301" name="TextBox 36"/>
          <p:cNvSpPr/>
          <p:nvPr/>
        </p:nvSpPr>
        <p:spPr>
          <a:xfrm>
            <a:off x="548640" y="5806440"/>
            <a:ext cx="109720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WebSocket Events  (ws://host:3000)</a:t>
            </a:r>
            <a:endParaRPr lang="en-GB" sz="1300" b="0" u="none" strike="noStrike">
              <a:solidFill>
                <a:srgbClr val="FFFFFF"/>
              </a:solidFill>
              <a:effectLst/>
              <a:uFillTx/>
              <a:latin typeface="Arial"/>
            </a:endParaRPr>
          </a:p>
        </p:txBody>
      </p:sp>
      <p:sp>
        <p:nvSpPr>
          <p:cNvPr id="302" name="Rectangle 37"/>
          <p:cNvSpPr/>
          <p:nvPr/>
        </p:nvSpPr>
        <p:spPr>
          <a:xfrm>
            <a:off x="548640" y="6236280"/>
            <a:ext cx="6624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3" name="TextBox 38"/>
          <p:cNvSpPr/>
          <p:nvPr/>
        </p:nvSpPr>
        <p:spPr>
          <a:xfrm>
            <a:off x="603360" y="6263640"/>
            <a:ext cx="5709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state</a:t>
            </a:r>
            <a:endParaRPr lang="en-GB" sz="950" b="0" u="none" strike="noStrike">
              <a:solidFill>
                <a:srgbClr val="FFFFFF"/>
              </a:solidFill>
              <a:effectLst/>
              <a:uFillTx/>
              <a:latin typeface="Arial"/>
            </a:endParaRPr>
          </a:p>
        </p:txBody>
      </p:sp>
      <p:sp>
        <p:nvSpPr>
          <p:cNvPr id="304" name="Rectangle 39"/>
          <p:cNvSpPr/>
          <p:nvPr/>
        </p:nvSpPr>
        <p:spPr>
          <a:xfrm>
            <a:off x="1321200" y="6236280"/>
            <a:ext cx="10965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5" name="TextBox 40"/>
          <p:cNvSpPr/>
          <p:nvPr/>
        </p:nvSpPr>
        <p:spPr>
          <a:xfrm>
            <a:off x="1376280" y="6263640"/>
            <a:ext cx="10051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registered</a:t>
            </a:r>
            <a:endParaRPr lang="en-GB" sz="950" b="0" u="none" strike="noStrike">
              <a:solidFill>
                <a:srgbClr val="FFFFFF"/>
              </a:solidFill>
              <a:effectLst/>
              <a:uFillTx/>
              <a:latin typeface="Arial"/>
            </a:endParaRPr>
          </a:p>
        </p:txBody>
      </p:sp>
      <p:sp>
        <p:nvSpPr>
          <p:cNvPr id="306" name="Rectangle 41"/>
          <p:cNvSpPr/>
          <p:nvPr/>
        </p:nvSpPr>
        <p:spPr>
          <a:xfrm>
            <a:off x="2528280" y="6236280"/>
            <a:ext cx="127044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7" name="TextBox 42"/>
          <p:cNvSpPr/>
          <p:nvPr/>
        </p:nvSpPr>
        <p:spPr>
          <a:xfrm>
            <a:off x="2583000" y="6263640"/>
            <a:ext cx="117900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unregistered</a:t>
            </a:r>
            <a:endParaRPr lang="en-GB" sz="950" b="0" u="none" strike="noStrike">
              <a:solidFill>
                <a:srgbClr val="FFFFFF"/>
              </a:solidFill>
              <a:effectLst/>
              <a:uFillTx/>
              <a:latin typeface="Arial"/>
            </a:endParaRPr>
          </a:p>
        </p:txBody>
      </p:sp>
      <p:sp>
        <p:nvSpPr>
          <p:cNvPr id="308" name="Rectangle 43"/>
          <p:cNvSpPr/>
          <p:nvPr/>
        </p:nvSpPr>
        <p:spPr>
          <a:xfrm>
            <a:off x="3909240" y="6236280"/>
            <a:ext cx="17913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44"/>
          <p:cNvSpPr/>
          <p:nvPr/>
        </p:nvSpPr>
        <p:spPr>
          <a:xfrm>
            <a:off x="3963960" y="6263640"/>
            <a:ext cx="16999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registrationFailed</a:t>
            </a:r>
            <a:endParaRPr lang="en-GB" sz="950" b="0" u="none" strike="noStrike">
              <a:solidFill>
                <a:srgbClr val="FFFFFF"/>
              </a:solidFill>
              <a:effectLst/>
              <a:uFillTx/>
              <a:latin typeface="Arial"/>
            </a:endParaRPr>
          </a:p>
        </p:txBody>
      </p:sp>
      <p:sp>
        <p:nvSpPr>
          <p:cNvPr id="310" name="Rectangle 45"/>
          <p:cNvSpPr/>
          <p:nvPr/>
        </p:nvSpPr>
        <p:spPr>
          <a:xfrm>
            <a:off x="5811120" y="6236280"/>
            <a:ext cx="127044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1" name="TextBox 46"/>
          <p:cNvSpPr/>
          <p:nvPr/>
        </p:nvSpPr>
        <p:spPr>
          <a:xfrm>
            <a:off x="5865840" y="6263640"/>
            <a:ext cx="117900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incomingCall</a:t>
            </a:r>
            <a:endParaRPr lang="en-GB" sz="950" b="0" u="none" strike="noStrike">
              <a:solidFill>
                <a:srgbClr val="FFFFFF"/>
              </a:solidFill>
              <a:effectLst/>
              <a:uFillTx/>
              <a:latin typeface="Arial"/>
            </a:endParaRPr>
          </a:p>
        </p:txBody>
      </p:sp>
      <p:sp>
        <p:nvSpPr>
          <p:cNvPr id="312" name="Rectangle 47"/>
          <p:cNvSpPr/>
          <p:nvPr/>
        </p:nvSpPr>
        <p:spPr>
          <a:xfrm>
            <a:off x="7191720" y="6236280"/>
            <a:ext cx="13572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TextBox 48"/>
          <p:cNvSpPr/>
          <p:nvPr/>
        </p:nvSpPr>
        <p:spPr>
          <a:xfrm>
            <a:off x="7246800" y="6263640"/>
            <a:ext cx="12657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callConnected</a:t>
            </a:r>
            <a:endParaRPr lang="en-GB" sz="950" b="0" u="none" strike="noStrike">
              <a:solidFill>
                <a:srgbClr val="FFFFFF"/>
              </a:solidFill>
              <a:effectLst/>
              <a:uFillTx/>
              <a:latin typeface="Arial"/>
            </a:endParaRPr>
          </a:p>
        </p:txBody>
      </p:sp>
      <p:sp>
        <p:nvSpPr>
          <p:cNvPr id="314" name="Rectangle 49"/>
          <p:cNvSpPr/>
          <p:nvPr/>
        </p:nvSpPr>
        <p:spPr>
          <a:xfrm>
            <a:off x="8659440" y="6236280"/>
            <a:ext cx="10098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5" name="TextBox 50"/>
          <p:cNvSpPr/>
          <p:nvPr/>
        </p:nvSpPr>
        <p:spPr>
          <a:xfrm>
            <a:off x="8714160" y="6263640"/>
            <a:ext cx="9183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callEnded</a:t>
            </a:r>
            <a:endParaRPr lang="en-GB" sz="950" b="0" u="none" strike="noStrike">
              <a:solidFill>
                <a:srgbClr val="FFFFFF"/>
              </a:solidFill>
              <a:effectLst/>
              <a:uFillTx/>
              <a:latin typeface="Arial"/>
            </a:endParaRPr>
          </a:p>
        </p:txBody>
      </p:sp>
      <p:sp>
        <p:nvSpPr>
          <p:cNvPr id="316" name="Rectangle 51"/>
          <p:cNvSpPr/>
          <p:nvPr/>
        </p:nvSpPr>
        <p:spPr>
          <a:xfrm>
            <a:off x="9779400" y="6236280"/>
            <a:ext cx="10965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7" name="TextBox 52"/>
          <p:cNvSpPr/>
          <p:nvPr/>
        </p:nvSpPr>
        <p:spPr>
          <a:xfrm>
            <a:off x="9834480" y="6263640"/>
            <a:ext cx="10051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callFailed</a:t>
            </a:r>
            <a:endParaRPr lang="en-GB" sz="950" b="0" u="none" strike="noStrike">
              <a:solidFill>
                <a:srgbClr val="FFFFFF"/>
              </a:solidFill>
              <a:effectLst/>
              <a:uFillTx/>
              <a:latin typeface="Arial"/>
            </a:endParaRPr>
          </a:p>
        </p:txBody>
      </p:sp>
      <p:sp>
        <p:nvSpPr>
          <p:cNvPr id="318" name="Rectangle 53"/>
          <p:cNvSpPr/>
          <p:nvPr/>
        </p:nvSpPr>
        <p:spPr>
          <a:xfrm>
            <a:off x="10986480" y="6236280"/>
            <a:ext cx="92268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9" name="TextBox 54"/>
          <p:cNvSpPr/>
          <p:nvPr/>
        </p:nvSpPr>
        <p:spPr>
          <a:xfrm>
            <a:off x="11041560" y="6263640"/>
            <a:ext cx="83124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callHeld</a:t>
            </a:r>
            <a:endParaRPr lang="en-GB"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320"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Bold"/>
              </a:rPr>
              <a:t>Packet Capture &amp; Audio Recording</a:t>
            </a:r>
            <a:endParaRPr lang="en-GB" sz="3200" b="0" u="none" strike="noStrike">
              <a:solidFill>
                <a:srgbClr val="FFFFFF"/>
              </a:solidFill>
              <a:effectLst/>
              <a:uFillTx/>
              <a:latin typeface="Arial"/>
            </a:endParaRPr>
          </a:p>
        </p:txBody>
      </p:sp>
      <p:sp>
        <p:nvSpPr>
          <p:cNvPr id="321"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322" name="TextBox 3"/>
          <p:cNvSpPr/>
          <p:nvPr/>
        </p:nvSpPr>
        <p:spPr>
          <a:xfrm>
            <a:off x="548640" y="1188720"/>
            <a:ext cx="5485680" cy="364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.pcap  - SIP + RTP Capture</a:t>
            </a:r>
            <a:endParaRPr lang="en-GB" sz="1800" b="0" u="none" strike="noStrike">
              <a:solidFill>
                <a:srgbClr val="FFFFFF"/>
              </a:solidFill>
              <a:effectLst/>
              <a:uFillTx/>
              <a:latin typeface="Arial"/>
            </a:endParaRPr>
          </a:p>
        </p:txBody>
      </p:sp>
      <p:sp>
        <p:nvSpPr>
          <p:cNvPr id="323" name="Rectangle 4"/>
          <p:cNvSpPr/>
          <p:nvPr/>
        </p:nvSpPr>
        <p:spPr>
          <a:xfrm>
            <a:off x="548640" y="182880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4" name="TextBox 5"/>
          <p:cNvSpPr/>
          <p:nvPr/>
        </p:nvSpPr>
        <p:spPr>
          <a:xfrm>
            <a:off x="749880" y="1737360"/>
            <a:ext cx="5119920" cy="265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Pure Node.js - no tcpdump, no raw socket permissions</a:t>
            </a:r>
            <a:endParaRPr lang="en-GB" sz="1150" b="0" u="none" strike="noStrike">
              <a:solidFill>
                <a:srgbClr val="FFFFFF"/>
              </a:solidFill>
              <a:effectLst/>
              <a:uFillTx/>
              <a:latin typeface="Arial"/>
            </a:endParaRPr>
          </a:p>
        </p:txBody>
      </p:sp>
      <p:sp>
        <p:nvSpPr>
          <p:cNvPr id="325" name="Rectangle 6"/>
          <p:cNvSpPr/>
          <p:nvPr/>
        </p:nvSpPr>
        <p:spPr>
          <a:xfrm>
            <a:off x="548640" y="235008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6" name="TextBox 7"/>
          <p:cNvSpPr/>
          <p:nvPr/>
        </p:nvSpPr>
        <p:spPr>
          <a:xfrm>
            <a:off x="749880" y="22586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libpcap binary format (magic 0xa1b2c3d4)</a:t>
            </a:r>
            <a:endParaRPr lang="en-GB" sz="1150" b="0" u="none" strike="noStrike">
              <a:solidFill>
                <a:srgbClr val="FFFFFF"/>
              </a:solidFill>
              <a:effectLst/>
              <a:uFillTx/>
              <a:latin typeface="Arial"/>
            </a:endParaRPr>
          </a:p>
        </p:txBody>
      </p:sp>
      <p:sp>
        <p:nvSpPr>
          <p:cNvPr id="327" name="Rectangle 8"/>
          <p:cNvSpPr/>
          <p:nvPr/>
        </p:nvSpPr>
        <p:spPr>
          <a:xfrm>
            <a:off x="548640" y="287136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8" name="TextBox 9"/>
          <p:cNvSpPr/>
          <p:nvPr/>
        </p:nvSpPr>
        <p:spPr>
          <a:xfrm>
            <a:off x="749880" y="2779920"/>
            <a:ext cx="5119920" cy="265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Link type 228 - Raw IPv4 (no fake Ethernet headers)</a:t>
            </a:r>
            <a:endParaRPr lang="en-GB" sz="1150" b="0" u="none" strike="noStrike">
              <a:solidFill>
                <a:srgbClr val="FFFFFF"/>
              </a:solidFill>
              <a:effectLst/>
              <a:uFillTx/>
              <a:latin typeface="Arial"/>
            </a:endParaRPr>
          </a:p>
        </p:txBody>
      </p:sp>
      <p:sp>
        <p:nvSpPr>
          <p:cNvPr id="329" name="Rectangle 10"/>
          <p:cNvSpPr/>
          <p:nvPr/>
        </p:nvSpPr>
        <p:spPr>
          <a:xfrm>
            <a:off x="548640" y="339228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0" name="TextBox 11"/>
          <p:cNvSpPr/>
          <p:nvPr/>
        </p:nvSpPr>
        <p:spPr>
          <a:xfrm>
            <a:off x="749880" y="33008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SIP messages captured via JsSIP transport._ws hook</a:t>
            </a:r>
            <a:endParaRPr lang="en-GB" sz="1150" b="0" u="none" strike="noStrike">
              <a:solidFill>
                <a:srgbClr val="FFFFFF"/>
              </a:solidFill>
              <a:effectLst/>
              <a:uFillTx/>
              <a:latin typeface="Arial"/>
            </a:endParaRPr>
          </a:p>
        </p:txBody>
      </p:sp>
      <p:sp>
        <p:nvSpPr>
          <p:cNvPr id="331" name="Rectangle 12"/>
          <p:cNvSpPr/>
          <p:nvPr/>
        </p:nvSpPr>
        <p:spPr>
          <a:xfrm>
            <a:off x="548640" y="391356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2" name="TextBox 13"/>
          <p:cNvSpPr/>
          <p:nvPr/>
        </p:nvSpPr>
        <p:spPr>
          <a:xfrm>
            <a:off x="749880" y="38221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RTP packets written from dgram socket message events</a:t>
            </a:r>
            <a:endParaRPr lang="en-GB" sz="1150" b="0" u="none" strike="noStrike">
              <a:solidFill>
                <a:srgbClr val="FFFFFF"/>
              </a:solidFill>
              <a:effectLst/>
              <a:uFillTx/>
              <a:latin typeface="Arial"/>
            </a:endParaRPr>
          </a:p>
        </p:txBody>
      </p:sp>
      <p:sp>
        <p:nvSpPr>
          <p:cNvPr id="333" name="Rectangle 14"/>
          <p:cNvSpPr/>
          <p:nvPr/>
        </p:nvSpPr>
        <p:spPr>
          <a:xfrm>
            <a:off x="548640" y="443484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4" name="TextBox 15"/>
          <p:cNvSpPr/>
          <p:nvPr/>
        </p:nvSpPr>
        <p:spPr>
          <a:xfrm>
            <a:off x="749880" y="434340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One file per call, named with timestamp + call ID prefix</a:t>
            </a:r>
            <a:endParaRPr lang="en-GB" sz="1150" b="0" u="none" strike="noStrike">
              <a:solidFill>
                <a:srgbClr val="FFFFFF"/>
              </a:solidFill>
              <a:effectLst/>
              <a:uFillTx/>
              <a:latin typeface="Arial"/>
            </a:endParaRPr>
          </a:p>
        </p:txBody>
      </p:sp>
      <p:sp>
        <p:nvSpPr>
          <p:cNvPr id="335" name="Rectangle 16"/>
          <p:cNvSpPr/>
          <p:nvPr/>
        </p:nvSpPr>
        <p:spPr>
          <a:xfrm>
            <a:off x="548640" y="495612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6" name="TextBox 17"/>
          <p:cNvSpPr/>
          <p:nvPr/>
        </p:nvSpPr>
        <p:spPr>
          <a:xfrm>
            <a:off x="749880" y="486468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Download via UI (↓ PCAP button) or GET /api/captures</a:t>
            </a:r>
            <a:endParaRPr lang="en-GB" sz="1150" b="0" u="none" strike="noStrike">
              <a:solidFill>
                <a:srgbClr val="FFFFFF"/>
              </a:solidFill>
              <a:effectLst/>
              <a:uFillTx/>
              <a:latin typeface="Arial"/>
            </a:endParaRPr>
          </a:p>
        </p:txBody>
      </p:sp>
      <p:sp>
        <p:nvSpPr>
          <p:cNvPr id="337" name="Rectangle 18"/>
          <p:cNvSpPr/>
          <p:nvPr/>
        </p:nvSpPr>
        <p:spPr>
          <a:xfrm>
            <a:off x="548640" y="547740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8" name="TextBox 19"/>
          <p:cNvSpPr/>
          <p:nvPr/>
        </p:nvSpPr>
        <p:spPr>
          <a:xfrm>
            <a:off x="749880" y="53859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Open in Wireshark → Telephony → VoIP Calls</a:t>
            </a:r>
            <a:endParaRPr lang="en-GB" sz="1150" b="0" u="none" strike="noStrike">
              <a:solidFill>
                <a:srgbClr val="FFFFFF"/>
              </a:solidFill>
              <a:effectLst/>
              <a:uFillTx/>
              <a:latin typeface="Arial"/>
            </a:endParaRPr>
          </a:p>
        </p:txBody>
      </p:sp>
      <p:sp>
        <p:nvSpPr>
          <p:cNvPr id="339" name="Rectangle 20"/>
          <p:cNvSpPr/>
          <p:nvPr/>
        </p:nvSpPr>
        <p:spPr>
          <a:xfrm>
            <a:off x="6126480" y="1097280"/>
            <a:ext cx="36000" cy="539424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340" name="TextBox 21"/>
          <p:cNvSpPr/>
          <p:nvPr/>
        </p:nvSpPr>
        <p:spPr>
          <a:xfrm>
            <a:off x="6400800" y="1188720"/>
            <a:ext cx="5485680" cy="364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D97706"/>
                </a:solidFill>
                <a:effectLst/>
                <a:uFillTx/>
                <a:latin typeface="Calibri Bold"/>
              </a:rPr>
              <a:t>.wav  - Inbound Audio Recording</a:t>
            </a:r>
            <a:endParaRPr lang="en-GB" sz="1800" b="0" u="none" strike="noStrike">
              <a:solidFill>
                <a:srgbClr val="FFFFFF"/>
              </a:solidFill>
              <a:effectLst/>
              <a:uFillTx/>
              <a:latin typeface="Arial"/>
            </a:endParaRPr>
          </a:p>
        </p:txBody>
      </p:sp>
      <p:sp>
        <p:nvSpPr>
          <p:cNvPr id="341" name="Rectangle 22"/>
          <p:cNvSpPr/>
          <p:nvPr/>
        </p:nvSpPr>
        <p:spPr>
          <a:xfrm>
            <a:off x="6400800" y="182880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2" name="TextBox 23"/>
          <p:cNvSpPr/>
          <p:nvPr/>
        </p:nvSpPr>
        <p:spPr>
          <a:xfrm>
            <a:off x="6602040" y="17373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Decodes inbound RTP payload in real time</a:t>
            </a:r>
            <a:endParaRPr lang="en-GB" sz="1150" b="0" u="none" strike="noStrike">
              <a:solidFill>
                <a:srgbClr val="FFFFFF"/>
              </a:solidFill>
              <a:effectLst/>
              <a:uFillTx/>
              <a:latin typeface="Arial"/>
            </a:endParaRPr>
          </a:p>
        </p:txBody>
      </p:sp>
      <p:sp>
        <p:nvSpPr>
          <p:cNvPr id="343" name="Rectangle 24"/>
          <p:cNvSpPr/>
          <p:nvPr/>
        </p:nvSpPr>
        <p:spPr>
          <a:xfrm>
            <a:off x="6400800" y="235008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4" name="TextBox 25"/>
          <p:cNvSpPr/>
          <p:nvPr/>
        </p:nvSpPr>
        <p:spPr>
          <a:xfrm>
            <a:off x="6602040" y="22586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G.722 → 16kHz 16-bit </a:t>
            </a:r>
            <a:r>
              <a:rPr lang="en-US" sz="1150" b="0" u="none" strike="noStrike">
                <a:solidFill>
                  <a:srgbClr val="F0F4FF"/>
                </a:solidFill>
                <a:effectLst/>
                <a:uFillTx/>
                <a:latin typeface="Calibri"/>
              </a:rPr>
              <a:t>PCM (sub-band ADPCM </a:t>
            </a:r>
            <a:r>
              <a:rPr lang="en-US" sz="1150" b="0" u="none" strike="noStrike">
                <a:solidFill>
                  <a:srgbClr val="F0F4FF"/>
                </a:solidFill>
                <a:effectLst/>
                <a:uFillTx/>
                <a:latin typeface="Calibri"/>
              </a:rPr>
              <a:t>decoder)</a:t>
            </a:r>
            <a:endParaRPr lang="en-GB" sz="1150" b="0" u="none" strike="noStrike">
              <a:solidFill>
                <a:srgbClr val="FFFFFF"/>
              </a:solidFill>
              <a:effectLst/>
              <a:uFillTx/>
              <a:latin typeface="Arial"/>
            </a:endParaRPr>
          </a:p>
        </p:txBody>
      </p:sp>
      <p:sp>
        <p:nvSpPr>
          <p:cNvPr id="345" name="Rectangle 26"/>
          <p:cNvSpPr/>
          <p:nvPr/>
        </p:nvSpPr>
        <p:spPr>
          <a:xfrm>
            <a:off x="6400800" y="287136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6" name="TextBox 27"/>
          <p:cNvSpPr/>
          <p:nvPr/>
        </p:nvSpPr>
        <p:spPr>
          <a:xfrm>
            <a:off x="6602040" y="27799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PCMU → 8kHz PCM via μ-law table</a:t>
            </a:r>
            <a:endParaRPr lang="en-GB" sz="1150" b="0" u="none" strike="noStrike">
              <a:solidFill>
                <a:srgbClr val="FFFFFF"/>
              </a:solidFill>
              <a:effectLst/>
              <a:uFillTx/>
              <a:latin typeface="Arial"/>
            </a:endParaRPr>
          </a:p>
        </p:txBody>
      </p:sp>
      <p:sp>
        <p:nvSpPr>
          <p:cNvPr id="347" name="Rectangle 28"/>
          <p:cNvSpPr/>
          <p:nvPr/>
        </p:nvSpPr>
        <p:spPr>
          <a:xfrm>
            <a:off x="6400800" y="339228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8" name="TextBox 29"/>
          <p:cNvSpPr/>
          <p:nvPr/>
        </p:nvSpPr>
        <p:spPr>
          <a:xfrm>
            <a:off x="6602040" y="33008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PCMA → 8kHz </a:t>
            </a:r>
            <a:r>
              <a:rPr lang="en-US" sz="1150" b="0" u="none" strike="noStrike">
                <a:solidFill>
                  <a:srgbClr val="F0F4FF"/>
                </a:solidFill>
                <a:effectLst/>
                <a:uFillTx/>
                <a:latin typeface="Calibri"/>
              </a:rPr>
              <a:t>PCM via A-law </a:t>
            </a:r>
            <a:r>
              <a:rPr lang="en-US" sz="1150" b="0" u="none" strike="noStrike">
                <a:solidFill>
                  <a:srgbClr val="F0F4FF"/>
                </a:solidFill>
                <a:effectLst/>
                <a:uFillTx/>
                <a:latin typeface="Calibri"/>
              </a:rPr>
              <a:t>table</a:t>
            </a:r>
            <a:endParaRPr lang="en-GB" sz="1150" b="0" u="none" strike="noStrike">
              <a:solidFill>
                <a:srgbClr val="FFFFFF"/>
              </a:solidFill>
              <a:effectLst/>
              <a:uFillTx/>
              <a:latin typeface="Arial"/>
            </a:endParaRPr>
          </a:p>
        </p:txBody>
      </p:sp>
      <p:sp>
        <p:nvSpPr>
          <p:cNvPr id="349" name="Rectangle 30"/>
          <p:cNvSpPr/>
          <p:nvPr/>
        </p:nvSpPr>
        <p:spPr>
          <a:xfrm>
            <a:off x="6400800" y="391356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0" name="TextBox 31"/>
          <p:cNvSpPr/>
          <p:nvPr/>
        </p:nvSpPr>
        <p:spPr>
          <a:xfrm>
            <a:off x="6602040" y="38221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Writes PCM samples directly to file during call</a:t>
            </a:r>
            <a:endParaRPr lang="en-GB" sz="1150" b="0" u="none" strike="noStrike">
              <a:solidFill>
                <a:srgbClr val="FFFFFF"/>
              </a:solidFill>
              <a:effectLst/>
              <a:uFillTx/>
              <a:latin typeface="Arial"/>
            </a:endParaRPr>
          </a:p>
        </p:txBody>
      </p:sp>
      <p:sp>
        <p:nvSpPr>
          <p:cNvPr id="351" name="Rectangle 32"/>
          <p:cNvSpPr/>
          <p:nvPr/>
        </p:nvSpPr>
        <p:spPr>
          <a:xfrm>
            <a:off x="6400800" y="443484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2" name="TextBox 33"/>
          <p:cNvSpPr/>
          <p:nvPr/>
        </p:nvSpPr>
        <p:spPr>
          <a:xfrm>
            <a:off x="6602040" y="434340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WAV header written on call end (knows sample count)</a:t>
            </a:r>
            <a:endParaRPr lang="en-GB" sz="1150" b="0" u="none" strike="noStrike">
              <a:solidFill>
                <a:srgbClr val="FFFFFF"/>
              </a:solidFill>
              <a:effectLst/>
              <a:uFillTx/>
              <a:latin typeface="Arial"/>
            </a:endParaRPr>
          </a:p>
        </p:txBody>
      </p:sp>
      <p:sp>
        <p:nvSpPr>
          <p:cNvPr id="353" name="Rectangle 34"/>
          <p:cNvSpPr/>
          <p:nvPr/>
        </p:nvSpPr>
        <p:spPr>
          <a:xfrm>
            <a:off x="6400800" y="495612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4" name="TextBox 35"/>
          <p:cNvSpPr/>
          <p:nvPr/>
        </p:nvSpPr>
        <p:spPr>
          <a:xfrm>
            <a:off x="6602040" y="486468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One .wav per call, linked to matching .pcap in UI</a:t>
            </a:r>
            <a:endParaRPr lang="en-GB" sz="1150" b="0" u="none" strike="noStrike">
              <a:solidFill>
                <a:srgbClr val="FFFFFF"/>
              </a:solidFill>
              <a:effectLst/>
              <a:uFillTx/>
              <a:latin typeface="Arial"/>
            </a:endParaRPr>
          </a:p>
        </p:txBody>
      </p:sp>
      <p:sp>
        <p:nvSpPr>
          <p:cNvPr id="355" name="Rectangle 36"/>
          <p:cNvSpPr/>
          <p:nvPr/>
        </p:nvSpPr>
        <p:spPr>
          <a:xfrm>
            <a:off x="6400800" y="547740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6" name="TextBox 37"/>
          <p:cNvSpPr/>
          <p:nvPr/>
        </p:nvSpPr>
        <p:spPr>
          <a:xfrm>
            <a:off x="6602040" y="53859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Download via ↓ WAV button or /captures/audio_*.wav</a:t>
            </a:r>
            <a:endParaRPr lang="en-GB"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357"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Deployment</a:t>
            </a:r>
            <a:endParaRPr lang="en-GB" sz="3400" b="0" u="none" strike="noStrike">
              <a:solidFill>
                <a:srgbClr val="FFFFFF"/>
              </a:solidFill>
              <a:effectLst/>
              <a:uFillTx/>
              <a:latin typeface="Arial"/>
            </a:endParaRPr>
          </a:p>
        </p:txBody>
      </p:sp>
      <p:sp>
        <p:nvSpPr>
          <p:cNvPr id="358"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359" name="Rectangle 3"/>
          <p:cNvSpPr/>
          <p:nvPr/>
        </p:nvSpPr>
        <p:spPr>
          <a:xfrm>
            <a:off x="457200" y="1188720"/>
            <a:ext cx="365688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4"/>
          <p:cNvSpPr/>
          <p:nvPr/>
        </p:nvSpPr>
        <p:spPr>
          <a:xfrm>
            <a:off x="5943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Docker</a:t>
            </a:r>
            <a:endParaRPr lang="en-GB" sz="1600" b="0" u="none" strike="noStrike">
              <a:solidFill>
                <a:srgbClr val="FFFFFF"/>
              </a:solidFill>
              <a:effectLst/>
              <a:uFillTx/>
              <a:latin typeface="Arial"/>
            </a:endParaRPr>
          </a:p>
        </p:txBody>
      </p:sp>
      <p:sp>
        <p:nvSpPr>
          <p:cNvPr id="361" name="Rectangle 5"/>
          <p:cNvSpPr/>
          <p:nvPr/>
        </p:nvSpPr>
        <p:spPr>
          <a:xfrm>
            <a:off x="4572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2" name="TextBox 6"/>
          <p:cNvSpPr/>
          <p:nvPr/>
        </p:nvSpPr>
        <p:spPr>
          <a:xfrm>
            <a:off x="594360" y="178308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563EB"/>
                </a:solidFill>
                <a:effectLst/>
                <a:uFillTx/>
                <a:latin typeface="Consolas"/>
              </a:rPr>
              <a:t>Standard docker-compose.yml included</a:t>
            </a:r>
            <a:endParaRPr lang="en-GB" sz="1000" b="0" u="none" strike="noStrike">
              <a:solidFill>
                <a:srgbClr val="FFFFFF"/>
              </a:solidFill>
              <a:effectLst/>
              <a:uFillTx/>
              <a:latin typeface="Arial"/>
            </a:endParaRPr>
          </a:p>
        </p:txBody>
      </p:sp>
      <p:sp>
        <p:nvSpPr>
          <p:cNvPr id="363" name="Rectangle 7"/>
          <p:cNvSpPr/>
          <p:nvPr/>
        </p:nvSpPr>
        <p:spPr>
          <a:xfrm>
            <a:off x="594360" y="2468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4" name="TextBox 8"/>
          <p:cNvSpPr/>
          <p:nvPr/>
        </p:nvSpPr>
        <p:spPr>
          <a:xfrm>
            <a:off x="777240" y="2359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Multi-stage Alpine build</a:t>
            </a:r>
            <a:endParaRPr lang="en-GB" sz="1050" b="0" u="none" strike="noStrike">
              <a:solidFill>
                <a:srgbClr val="FFFFFF"/>
              </a:solidFill>
              <a:effectLst/>
              <a:uFillTx/>
              <a:latin typeface="Arial"/>
            </a:endParaRPr>
          </a:p>
        </p:txBody>
      </p:sp>
      <p:sp>
        <p:nvSpPr>
          <p:cNvPr id="365" name="Rectangle 9"/>
          <p:cNvSpPr/>
          <p:nvPr/>
        </p:nvSpPr>
        <p:spPr>
          <a:xfrm>
            <a:off x="594360" y="3044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6" name="TextBox 10"/>
          <p:cNvSpPr/>
          <p:nvPr/>
        </p:nvSpPr>
        <p:spPr>
          <a:xfrm>
            <a:off x="7772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tini as PID 1</a:t>
            </a:r>
            <a:endParaRPr lang="en-GB" sz="1050" b="0" u="none" strike="noStrike">
              <a:solidFill>
                <a:srgbClr val="FFFFFF"/>
              </a:solidFill>
              <a:effectLst/>
              <a:uFillTx/>
              <a:latin typeface="Arial"/>
            </a:endParaRPr>
          </a:p>
        </p:txBody>
      </p:sp>
      <p:sp>
        <p:nvSpPr>
          <p:cNvPr id="367" name="Rectangle 11"/>
          <p:cNvSpPr/>
          <p:nvPr/>
        </p:nvSpPr>
        <p:spPr>
          <a:xfrm>
            <a:off x="594360" y="3620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8" name="TextBox 12"/>
          <p:cNvSpPr/>
          <p:nvPr/>
        </p:nvSpPr>
        <p:spPr>
          <a:xfrm>
            <a:off x="777240" y="3511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ffmpeg for WAV conversion</a:t>
            </a:r>
            <a:endParaRPr lang="en-GB" sz="1050" b="0" u="none" strike="noStrike">
              <a:solidFill>
                <a:srgbClr val="FFFFFF"/>
              </a:solidFill>
              <a:effectLst/>
              <a:uFillTx/>
              <a:latin typeface="Arial"/>
            </a:endParaRPr>
          </a:p>
        </p:txBody>
      </p:sp>
      <p:sp>
        <p:nvSpPr>
          <p:cNvPr id="369" name="Rectangle 13"/>
          <p:cNvSpPr/>
          <p:nvPr/>
        </p:nvSpPr>
        <p:spPr>
          <a:xfrm>
            <a:off x="594360" y="419724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0" name="TextBox 14"/>
          <p:cNvSpPr/>
          <p:nvPr/>
        </p:nvSpPr>
        <p:spPr>
          <a:xfrm>
            <a:off x="7772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Volume: /captures for pcap + WAV</a:t>
            </a:r>
            <a:endParaRPr lang="en-GB" sz="1050" b="0" u="none" strike="noStrike">
              <a:solidFill>
                <a:srgbClr val="FFFFFF"/>
              </a:solidFill>
              <a:effectLst/>
              <a:uFillTx/>
              <a:latin typeface="Arial"/>
            </a:endParaRPr>
          </a:p>
        </p:txBody>
      </p:sp>
      <p:sp>
        <p:nvSpPr>
          <p:cNvPr id="371" name="TextBox 15"/>
          <p:cNvSpPr/>
          <p:nvPr/>
        </p:nvSpPr>
        <p:spPr>
          <a:xfrm>
            <a:off x="594360" y="523944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563EB"/>
                </a:solidFill>
                <a:effectLst/>
                <a:uFillTx/>
                <a:latin typeface="Consolas"/>
              </a:rPr>
              <a:t>docker-compose up -d --build</a:t>
            </a:r>
            <a:endParaRPr lang="en-GB" sz="1000" b="0" u="none" strike="noStrike">
              <a:solidFill>
                <a:srgbClr val="FFFFFF"/>
              </a:solidFill>
              <a:effectLst/>
              <a:uFillTx/>
              <a:latin typeface="Arial"/>
            </a:endParaRPr>
          </a:p>
        </p:txBody>
      </p:sp>
      <p:sp>
        <p:nvSpPr>
          <p:cNvPr id="372" name="Rectangle 16"/>
          <p:cNvSpPr/>
          <p:nvPr/>
        </p:nvSpPr>
        <p:spPr>
          <a:xfrm>
            <a:off x="4343400" y="1188720"/>
            <a:ext cx="3656880" cy="4564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17"/>
          <p:cNvSpPr/>
          <p:nvPr/>
        </p:nvSpPr>
        <p:spPr>
          <a:xfrm>
            <a:off x="44805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Podman (Fedora)</a:t>
            </a:r>
            <a:endParaRPr lang="en-GB" sz="1600" b="0" u="none" strike="noStrike">
              <a:solidFill>
                <a:srgbClr val="FFFFFF"/>
              </a:solidFill>
              <a:effectLst/>
              <a:uFillTx/>
              <a:latin typeface="Arial"/>
            </a:endParaRPr>
          </a:p>
        </p:txBody>
      </p:sp>
      <p:sp>
        <p:nvSpPr>
          <p:cNvPr id="374" name="Rectangle 18"/>
          <p:cNvSpPr/>
          <p:nvPr/>
        </p:nvSpPr>
        <p:spPr>
          <a:xfrm>
            <a:off x="43434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5" name="Rectangle 19"/>
          <p:cNvSpPr/>
          <p:nvPr/>
        </p:nvSpPr>
        <p:spPr>
          <a:xfrm>
            <a:off x="4480560" y="189288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6" name="TextBox 20"/>
          <p:cNvSpPr/>
          <p:nvPr/>
        </p:nvSpPr>
        <p:spPr>
          <a:xfrm>
            <a:off x="4663440" y="178308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Native on Fedora - no install needed</a:t>
            </a:r>
            <a:endParaRPr lang="en-GB" sz="1050" b="0" u="none" strike="noStrike">
              <a:solidFill>
                <a:srgbClr val="FFFFFF"/>
              </a:solidFill>
              <a:effectLst/>
              <a:uFillTx/>
              <a:latin typeface="Arial"/>
            </a:endParaRPr>
          </a:p>
        </p:txBody>
      </p:sp>
      <p:sp>
        <p:nvSpPr>
          <p:cNvPr id="377" name="TextBox 21"/>
          <p:cNvSpPr/>
          <p:nvPr/>
        </p:nvSpPr>
        <p:spPr>
          <a:xfrm>
            <a:off x="4480560" y="235908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7C3AED"/>
                </a:solidFill>
                <a:effectLst/>
                <a:uFillTx/>
                <a:latin typeface="Consolas"/>
              </a:rPr>
              <a:t>podman-compose up -d --build</a:t>
            </a:r>
            <a:endParaRPr lang="en-GB" sz="1000" b="0" u="none" strike="noStrike">
              <a:solidFill>
                <a:srgbClr val="FFFFFF"/>
              </a:solidFill>
              <a:effectLst/>
              <a:uFillTx/>
              <a:latin typeface="Arial"/>
            </a:endParaRPr>
          </a:p>
        </p:txBody>
      </p:sp>
      <p:sp>
        <p:nvSpPr>
          <p:cNvPr id="378" name="Rectangle 22"/>
          <p:cNvSpPr/>
          <p:nvPr/>
        </p:nvSpPr>
        <p:spPr>
          <a:xfrm>
            <a:off x="4480560" y="304488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9" name="TextBox 23"/>
          <p:cNvSpPr/>
          <p:nvPr/>
        </p:nvSpPr>
        <p:spPr>
          <a:xfrm>
            <a:off x="46634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network_mode: host recommended</a:t>
            </a:r>
            <a:endParaRPr lang="en-GB" sz="1050" b="0" u="none" strike="noStrike">
              <a:solidFill>
                <a:srgbClr val="FFFFFF"/>
              </a:solidFill>
              <a:effectLst/>
              <a:uFillTx/>
              <a:latin typeface="Arial"/>
            </a:endParaRPr>
          </a:p>
        </p:txBody>
      </p:sp>
      <p:sp>
        <p:nvSpPr>
          <p:cNvPr id="380" name="TextBox 24"/>
          <p:cNvSpPr/>
          <p:nvPr/>
        </p:nvSpPr>
        <p:spPr>
          <a:xfrm>
            <a:off x="4709160" y="3511440"/>
            <a:ext cx="310824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(avoids SIP/RTP NAT issues)</a:t>
            </a:r>
            <a:endParaRPr lang="en-GB" sz="1000" b="0" u="none" strike="noStrike">
              <a:solidFill>
                <a:srgbClr val="FFFFFF"/>
              </a:solidFill>
              <a:effectLst/>
              <a:uFillTx/>
              <a:latin typeface="Arial"/>
            </a:endParaRPr>
          </a:p>
        </p:txBody>
      </p:sp>
      <p:sp>
        <p:nvSpPr>
          <p:cNvPr id="381" name="Rectangle 25"/>
          <p:cNvSpPr/>
          <p:nvPr/>
        </p:nvSpPr>
        <p:spPr>
          <a:xfrm>
            <a:off x="4480560" y="419724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82" name="TextBox 26"/>
          <p:cNvSpPr/>
          <p:nvPr/>
        </p:nvSpPr>
        <p:spPr>
          <a:xfrm>
            <a:off x="46634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privileged: true for pcap access</a:t>
            </a:r>
            <a:endParaRPr lang="en-GB" sz="1050" b="0" u="none" strike="noStrike">
              <a:solidFill>
                <a:srgbClr val="FFFFFF"/>
              </a:solidFill>
              <a:effectLst/>
              <a:uFillTx/>
              <a:latin typeface="Arial"/>
            </a:endParaRPr>
          </a:p>
        </p:txBody>
      </p:sp>
      <p:sp>
        <p:nvSpPr>
          <p:cNvPr id="383" name="Rectangle 27"/>
          <p:cNvSpPr/>
          <p:nvPr/>
        </p:nvSpPr>
        <p:spPr>
          <a:xfrm>
            <a:off x="4480560" y="477324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84" name="TextBox 28"/>
          <p:cNvSpPr/>
          <p:nvPr/>
        </p:nvSpPr>
        <p:spPr>
          <a:xfrm>
            <a:off x="4663440" y="4663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security_opt: label=disable</a:t>
            </a:r>
            <a:endParaRPr lang="en-GB" sz="1050" b="0" u="none" strike="noStrike">
              <a:solidFill>
                <a:srgbClr val="FFFFFF"/>
              </a:solidFill>
              <a:effectLst/>
              <a:uFillTx/>
              <a:latin typeface="Arial"/>
            </a:endParaRPr>
          </a:p>
        </p:txBody>
      </p:sp>
      <p:sp>
        <p:nvSpPr>
          <p:cNvPr id="385" name="TextBox 29"/>
          <p:cNvSpPr/>
          <p:nvPr/>
        </p:nvSpPr>
        <p:spPr>
          <a:xfrm>
            <a:off x="4480560" y="523944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7C3AED"/>
                </a:solidFill>
                <a:effectLst/>
                <a:uFillTx/>
                <a:latin typeface="Consolas"/>
              </a:rPr>
              <a:t>systemd unit via podman generate</a:t>
            </a:r>
            <a:endParaRPr lang="en-GB" sz="1000" b="0" u="none" strike="noStrike">
              <a:solidFill>
                <a:srgbClr val="FFFFFF"/>
              </a:solidFill>
              <a:effectLst/>
              <a:uFillTx/>
              <a:latin typeface="Arial"/>
            </a:endParaRPr>
          </a:p>
        </p:txBody>
      </p:sp>
      <p:sp>
        <p:nvSpPr>
          <p:cNvPr id="386" name="Rectangle 30"/>
          <p:cNvSpPr/>
          <p:nvPr/>
        </p:nvSpPr>
        <p:spPr>
          <a:xfrm>
            <a:off x="8229600" y="1188720"/>
            <a:ext cx="3656880" cy="4564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7" name="TextBox 31"/>
          <p:cNvSpPr/>
          <p:nvPr/>
        </p:nvSpPr>
        <p:spPr>
          <a:xfrm>
            <a:off x="83667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Cloud / Headless</a:t>
            </a:r>
            <a:endParaRPr lang="en-GB" sz="1600" b="0" u="none" strike="noStrike">
              <a:solidFill>
                <a:srgbClr val="FFFFFF"/>
              </a:solidFill>
              <a:effectLst/>
              <a:uFillTx/>
              <a:latin typeface="Arial"/>
            </a:endParaRPr>
          </a:p>
        </p:txBody>
      </p:sp>
      <p:sp>
        <p:nvSpPr>
          <p:cNvPr id="388" name="Rectangle 32"/>
          <p:cNvSpPr/>
          <p:nvPr/>
        </p:nvSpPr>
        <p:spPr>
          <a:xfrm>
            <a:off x="82296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9" name="Rectangle 33"/>
          <p:cNvSpPr/>
          <p:nvPr/>
        </p:nvSpPr>
        <p:spPr>
          <a:xfrm>
            <a:off x="8366760" y="1892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0" name="TextBox 34"/>
          <p:cNvSpPr/>
          <p:nvPr/>
        </p:nvSpPr>
        <p:spPr>
          <a:xfrm>
            <a:off x="8549640" y="1783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No audio </a:t>
            </a:r>
            <a:r>
              <a:rPr lang="en-US" sz="1050" b="0" u="none" strike="noStrike">
                <a:solidFill>
                  <a:srgbClr val="F0F4FF"/>
                </a:solidFill>
                <a:effectLst/>
                <a:uFillTx/>
                <a:latin typeface="Calibri"/>
              </a:rPr>
              <a:t>hardware </a:t>
            </a:r>
            <a:r>
              <a:rPr lang="en-US" sz="1050" b="0" u="none" strike="noStrike">
                <a:solidFill>
                  <a:srgbClr val="F0F4FF"/>
                </a:solidFill>
                <a:effectLst/>
                <a:uFillTx/>
                <a:latin typeface="Calibri"/>
              </a:rPr>
              <a:t>required</a:t>
            </a:r>
            <a:endParaRPr lang="en-GB" sz="1050" b="0" u="none" strike="noStrike">
              <a:solidFill>
                <a:srgbClr val="FFFFFF"/>
              </a:solidFill>
              <a:effectLst/>
              <a:uFillTx/>
              <a:latin typeface="Arial"/>
            </a:endParaRPr>
          </a:p>
        </p:txBody>
      </p:sp>
      <p:sp>
        <p:nvSpPr>
          <p:cNvPr id="391" name="Rectangle 35"/>
          <p:cNvSpPr/>
          <p:nvPr/>
        </p:nvSpPr>
        <p:spPr>
          <a:xfrm>
            <a:off x="8366760" y="2468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2" name="TextBox 36"/>
          <p:cNvSpPr/>
          <p:nvPr/>
        </p:nvSpPr>
        <p:spPr>
          <a:xfrm>
            <a:off x="8549640" y="2359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No /dev/snd, ALSA, or PulseAudio</a:t>
            </a:r>
            <a:endParaRPr lang="en-GB" sz="1050" b="0" u="none" strike="noStrike">
              <a:solidFill>
                <a:srgbClr val="FFFFFF"/>
              </a:solidFill>
              <a:effectLst/>
              <a:uFillTx/>
              <a:latin typeface="Arial"/>
            </a:endParaRPr>
          </a:p>
        </p:txBody>
      </p:sp>
      <p:sp>
        <p:nvSpPr>
          <p:cNvPr id="393" name="Rectangle 37"/>
          <p:cNvSpPr/>
          <p:nvPr/>
        </p:nvSpPr>
        <p:spPr>
          <a:xfrm>
            <a:off x="8366760" y="3044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4" name="TextBox 38"/>
          <p:cNvSpPr/>
          <p:nvPr/>
        </p:nvSpPr>
        <p:spPr>
          <a:xfrm>
            <a:off x="85496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Media = raw UDP network I/O only</a:t>
            </a:r>
            <a:endParaRPr lang="en-GB" sz="1050" b="0" u="none" strike="noStrike">
              <a:solidFill>
                <a:srgbClr val="FFFFFF"/>
              </a:solidFill>
              <a:effectLst/>
              <a:uFillTx/>
              <a:latin typeface="Arial"/>
            </a:endParaRPr>
          </a:p>
        </p:txBody>
      </p:sp>
      <p:sp>
        <p:nvSpPr>
          <p:cNvPr id="395" name="Rectangle 39"/>
          <p:cNvSpPr/>
          <p:nvPr/>
        </p:nvSpPr>
        <p:spPr>
          <a:xfrm>
            <a:off x="8366760" y="3620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6" name="TextBox 40"/>
          <p:cNvSpPr/>
          <p:nvPr/>
        </p:nvSpPr>
        <p:spPr>
          <a:xfrm>
            <a:off x="8549640" y="3511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Works on any VM with Docker/Podman</a:t>
            </a:r>
            <a:endParaRPr lang="en-GB" sz="1050" b="0" u="none" strike="noStrike">
              <a:solidFill>
                <a:srgbClr val="FFFFFF"/>
              </a:solidFill>
              <a:effectLst/>
              <a:uFillTx/>
              <a:latin typeface="Arial"/>
            </a:endParaRPr>
          </a:p>
        </p:txBody>
      </p:sp>
      <p:sp>
        <p:nvSpPr>
          <p:cNvPr id="397" name="Rectangle 41"/>
          <p:cNvSpPr/>
          <p:nvPr/>
        </p:nvSpPr>
        <p:spPr>
          <a:xfrm>
            <a:off x="8366760" y="4197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8" name="TextBox 42"/>
          <p:cNvSpPr/>
          <p:nvPr/>
        </p:nvSpPr>
        <p:spPr>
          <a:xfrm>
            <a:off x="85496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NAT note: advertise public IP in SDP</a:t>
            </a:r>
            <a:endParaRPr lang="en-GB" sz="1050" b="0" u="none" strike="noStrike">
              <a:solidFill>
                <a:srgbClr val="FFFFFF"/>
              </a:solidFill>
              <a:effectLst/>
              <a:uFillTx/>
              <a:latin typeface="Arial"/>
            </a:endParaRPr>
          </a:p>
        </p:txBody>
      </p:sp>
      <p:sp>
        <p:nvSpPr>
          <p:cNvPr id="399" name="Rectangle 43"/>
          <p:cNvSpPr/>
          <p:nvPr/>
        </p:nvSpPr>
        <p:spPr>
          <a:xfrm>
            <a:off x="8366760" y="4773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00" name="TextBox 44"/>
          <p:cNvSpPr/>
          <p:nvPr/>
        </p:nvSpPr>
        <p:spPr>
          <a:xfrm>
            <a:off x="8549640" y="4663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Firewall: open UDP 10000-20000 (RTP)</a:t>
            </a:r>
            <a:endParaRPr lang="en-GB" sz="1050" b="0" u="none" strike="noStrike">
              <a:solidFill>
                <a:srgbClr val="FFFFFF"/>
              </a:solidFill>
              <a:effectLst/>
              <a:uFillTx/>
              <a:latin typeface="Arial"/>
            </a:endParaRPr>
          </a:p>
        </p:txBody>
      </p:sp>
      <p:sp>
        <p:nvSpPr>
          <p:cNvPr id="401" name="Rectangle 45"/>
          <p:cNvSpPr/>
          <p:nvPr/>
        </p:nvSpPr>
        <p:spPr>
          <a:xfrm>
            <a:off x="8366760" y="5349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02" name="TextBox 46"/>
          <p:cNvSpPr/>
          <p:nvPr/>
        </p:nvSpPr>
        <p:spPr>
          <a:xfrm>
            <a:off x="8549640" y="5239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Port 3000 for UI + API access</a:t>
            </a:r>
            <a:endParaRPr lang="en-GB" sz="1050" b="0" u="none" strike="noStrike">
              <a:solidFill>
                <a:srgbClr val="FFFFFF"/>
              </a:solidFill>
              <a:effectLst/>
              <a:uFillTx/>
              <a:latin typeface="Arial"/>
            </a:endParaRPr>
          </a:p>
        </p:txBody>
      </p:sp>
      <p:sp>
        <p:nvSpPr>
          <p:cNvPr id="403" name="Rectangle 47"/>
          <p:cNvSpPr/>
          <p:nvPr/>
        </p:nvSpPr>
        <p:spPr>
          <a:xfrm>
            <a:off x="457200" y="6263640"/>
            <a:ext cx="11246400" cy="45648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4" name="TextBox 48"/>
          <p:cNvSpPr/>
          <p:nvPr/>
        </p:nvSpPr>
        <p:spPr>
          <a:xfrm>
            <a:off x="640080" y="6309360"/>
            <a:ext cx="108806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94A3B8"/>
                </a:solidFill>
                <a:effectLst/>
                <a:uFillTx/>
                <a:latin typeface="Calibri"/>
              </a:rPr>
              <a:t>Requirements:  Docker / Podman  ·  ffmpeg (in container)  ·  Network access to SIP PBX  ·  UDP 10000-20000 open  ·  Port 3000 for UI</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405" name="TextBox 1"/>
          <p:cNvSpPr/>
          <p:nvPr/>
        </p:nvSpPr>
        <p:spPr>
          <a:xfrm>
            <a:off x="548640" y="274320"/>
            <a:ext cx="10972080" cy="607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Web UI</a:t>
            </a:r>
            <a:endParaRPr lang="en-GB" sz="3400" b="0" u="none" strike="noStrike">
              <a:solidFill>
                <a:srgbClr val="FFFFFF"/>
              </a:solidFill>
              <a:effectLst/>
              <a:uFillTx/>
              <a:latin typeface="Arial"/>
            </a:endParaRPr>
          </a:p>
        </p:txBody>
      </p:sp>
      <p:sp>
        <p:nvSpPr>
          <p:cNvPr id="406"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407" name="Rectangle 3"/>
          <p:cNvSpPr/>
          <p:nvPr/>
        </p:nvSpPr>
        <p:spPr>
          <a:xfrm>
            <a:off x="457200" y="1188720"/>
            <a:ext cx="3108240" cy="41076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8" name="TextBox 4"/>
          <p:cNvSpPr/>
          <p:nvPr/>
        </p:nvSpPr>
        <p:spPr>
          <a:xfrm>
            <a:off x="567000" y="1252800"/>
            <a:ext cx="29253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Registration Panel</a:t>
            </a:r>
            <a:endParaRPr lang="en-GB" sz="1200" b="0" u="none" strike="noStrike">
              <a:solidFill>
                <a:srgbClr val="FFFFFF"/>
              </a:solidFill>
              <a:effectLst/>
              <a:uFillTx/>
              <a:latin typeface="Arial"/>
            </a:endParaRPr>
          </a:p>
        </p:txBody>
      </p:sp>
      <p:sp>
        <p:nvSpPr>
          <p:cNvPr id="409" name="Rectangle 5"/>
          <p:cNvSpPr/>
          <p:nvPr/>
        </p:nvSpPr>
        <p:spPr>
          <a:xfrm>
            <a:off x="457200" y="1600200"/>
            <a:ext cx="310824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0" name="Rectangle 6"/>
          <p:cNvSpPr/>
          <p:nvPr/>
        </p:nvSpPr>
        <p:spPr>
          <a:xfrm>
            <a:off x="567000" y="185616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1" name="TextBox 7"/>
          <p:cNvSpPr/>
          <p:nvPr/>
        </p:nvSpPr>
        <p:spPr>
          <a:xfrm>
            <a:off x="713160" y="173736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SIP server, port, WS port</a:t>
            </a:r>
            <a:endParaRPr lang="en-GB" sz="1050" b="0" u="none" strike="noStrike">
              <a:solidFill>
                <a:srgbClr val="FFFFFF"/>
              </a:solidFill>
              <a:effectLst/>
              <a:uFillTx/>
              <a:latin typeface="Arial"/>
            </a:endParaRPr>
          </a:p>
        </p:txBody>
      </p:sp>
      <p:sp>
        <p:nvSpPr>
          <p:cNvPr id="412" name="Rectangle 8"/>
          <p:cNvSpPr/>
          <p:nvPr/>
        </p:nvSpPr>
        <p:spPr>
          <a:xfrm>
            <a:off x="567000" y="256932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3" name="TextBox 9"/>
          <p:cNvSpPr/>
          <p:nvPr/>
        </p:nvSpPr>
        <p:spPr>
          <a:xfrm>
            <a:off x="713160" y="245052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Transport: UDP / TLS</a:t>
            </a:r>
            <a:endParaRPr lang="en-GB" sz="1050" b="0" u="none" strike="noStrike">
              <a:solidFill>
                <a:srgbClr val="FFFFFF"/>
              </a:solidFill>
              <a:effectLst/>
              <a:uFillTx/>
              <a:latin typeface="Arial"/>
            </a:endParaRPr>
          </a:p>
        </p:txBody>
      </p:sp>
      <p:sp>
        <p:nvSpPr>
          <p:cNvPr id="414" name="Rectangle 10"/>
          <p:cNvSpPr/>
          <p:nvPr/>
        </p:nvSpPr>
        <p:spPr>
          <a:xfrm>
            <a:off x="567000" y="328284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5" name="TextBox 11"/>
          <p:cNvSpPr/>
          <p:nvPr/>
        </p:nvSpPr>
        <p:spPr>
          <a:xfrm>
            <a:off x="713160" y="316368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Username, password, display name</a:t>
            </a:r>
            <a:endParaRPr lang="en-GB" sz="1050" b="0" u="none" strike="noStrike">
              <a:solidFill>
                <a:srgbClr val="FFFFFF"/>
              </a:solidFill>
              <a:effectLst/>
              <a:uFillTx/>
              <a:latin typeface="Arial"/>
            </a:endParaRPr>
          </a:p>
        </p:txBody>
      </p:sp>
      <p:sp>
        <p:nvSpPr>
          <p:cNvPr id="416" name="Rectangle 12"/>
          <p:cNvSpPr/>
          <p:nvPr/>
        </p:nvSpPr>
        <p:spPr>
          <a:xfrm>
            <a:off x="567000" y="399600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7" name="TextBox 13"/>
          <p:cNvSpPr/>
          <p:nvPr/>
        </p:nvSpPr>
        <p:spPr>
          <a:xfrm>
            <a:off x="713160" y="387720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Locks form when registered</a:t>
            </a:r>
            <a:endParaRPr lang="en-GB" sz="1050" b="0" u="none" strike="noStrike">
              <a:solidFill>
                <a:srgbClr val="FFFFFF"/>
              </a:solidFill>
              <a:effectLst/>
              <a:uFillTx/>
              <a:latin typeface="Arial"/>
            </a:endParaRPr>
          </a:p>
        </p:txBody>
      </p:sp>
      <p:sp>
        <p:nvSpPr>
          <p:cNvPr id="418" name="Rectangle 14"/>
          <p:cNvSpPr/>
          <p:nvPr/>
        </p:nvSpPr>
        <p:spPr>
          <a:xfrm>
            <a:off x="567000" y="470916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9" name="TextBox 15"/>
          <p:cNvSpPr/>
          <p:nvPr/>
        </p:nvSpPr>
        <p:spPr>
          <a:xfrm>
            <a:off x="713160" y="459036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Populates from API state on reload</a:t>
            </a:r>
            <a:endParaRPr lang="en-GB" sz="1050" b="0" u="none" strike="noStrike">
              <a:solidFill>
                <a:srgbClr val="FFFFFF"/>
              </a:solidFill>
              <a:effectLst/>
              <a:uFillTx/>
              <a:latin typeface="Arial"/>
            </a:endParaRPr>
          </a:p>
        </p:txBody>
      </p:sp>
      <p:sp>
        <p:nvSpPr>
          <p:cNvPr id="420" name="Rectangle 16"/>
          <p:cNvSpPr/>
          <p:nvPr/>
        </p:nvSpPr>
        <p:spPr>
          <a:xfrm>
            <a:off x="567000" y="542232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1" name="TextBox 17"/>
          <p:cNvSpPr/>
          <p:nvPr/>
        </p:nvSpPr>
        <p:spPr>
          <a:xfrm>
            <a:off x="713160" y="530352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Full API endpoint reference</a:t>
            </a:r>
            <a:endParaRPr lang="en-GB" sz="1050" b="0" u="none" strike="noStrike">
              <a:solidFill>
                <a:srgbClr val="FFFFFF"/>
              </a:solidFill>
              <a:effectLst/>
              <a:uFillTx/>
              <a:latin typeface="Arial"/>
            </a:endParaRPr>
          </a:p>
        </p:txBody>
      </p:sp>
      <p:sp>
        <p:nvSpPr>
          <p:cNvPr id="422" name="Rectangle 18"/>
          <p:cNvSpPr/>
          <p:nvPr/>
        </p:nvSpPr>
        <p:spPr>
          <a:xfrm>
            <a:off x="3749040" y="1188720"/>
            <a:ext cx="4662720" cy="41076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3" name="TextBox 19"/>
          <p:cNvSpPr/>
          <p:nvPr/>
        </p:nvSpPr>
        <p:spPr>
          <a:xfrm>
            <a:off x="3858840" y="1252800"/>
            <a:ext cx="4479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Softphone Panel</a:t>
            </a:r>
            <a:endParaRPr lang="en-GB" sz="1200" b="0" u="none" strike="noStrike">
              <a:solidFill>
                <a:srgbClr val="FFFFFF"/>
              </a:solidFill>
              <a:effectLst/>
              <a:uFillTx/>
              <a:latin typeface="Arial"/>
            </a:endParaRPr>
          </a:p>
        </p:txBody>
      </p:sp>
      <p:sp>
        <p:nvSpPr>
          <p:cNvPr id="424" name="Rectangle 20"/>
          <p:cNvSpPr/>
          <p:nvPr/>
        </p:nvSpPr>
        <p:spPr>
          <a:xfrm>
            <a:off x="3749040" y="1600200"/>
            <a:ext cx="466272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5" name="Rectangle 21"/>
          <p:cNvSpPr/>
          <p:nvPr/>
        </p:nvSpPr>
        <p:spPr>
          <a:xfrm>
            <a:off x="3858840" y="185616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6" name="TextBox 22"/>
          <p:cNvSpPr/>
          <p:nvPr/>
        </p:nvSpPr>
        <p:spPr>
          <a:xfrm>
            <a:off x="4005000" y="173736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Live call display card (blue gradient)</a:t>
            </a:r>
            <a:endParaRPr lang="en-GB" sz="1050" b="0" u="none" strike="noStrike">
              <a:solidFill>
                <a:srgbClr val="FFFFFF"/>
              </a:solidFill>
              <a:effectLst/>
              <a:uFillTx/>
              <a:latin typeface="Arial"/>
            </a:endParaRPr>
          </a:p>
        </p:txBody>
      </p:sp>
      <p:sp>
        <p:nvSpPr>
          <p:cNvPr id="427" name="Rectangle 23"/>
          <p:cNvSpPr/>
          <p:nvPr/>
        </p:nvSpPr>
        <p:spPr>
          <a:xfrm>
            <a:off x="3858840" y="256932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8" name="TextBox 24"/>
          <p:cNvSpPr/>
          <p:nvPr/>
        </p:nvSpPr>
        <p:spPr>
          <a:xfrm>
            <a:off x="4005000" y="245052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DTMF dialpad (12 keys)</a:t>
            </a:r>
            <a:endParaRPr lang="en-GB" sz="1050" b="0" u="none" strike="noStrike">
              <a:solidFill>
                <a:srgbClr val="FFFFFF"/>
              </a:solidFill>
              <a:effectLst/>
              <a:uFillTx/>
              <a:latin typeface="Arial"/>
            </a:endParaRPr>
          </a:p>
        </p:txBody>
      </p:sp>
      <p:sp>
        <p:nvSpPr>
          <p:cNvPr id="429" name="Rectangle 25"/>
          <p:cNvSpPr/>
          <p:nvPr/>
        </p:nvSpPr>
        <p:spPr>
          <a:xfrm>
            <a:off x="3858840" y="328284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0" name="TextBox 26"/>
          <p:cNvSpPr/>
          <p:nvPr/>
        </p:nvSpPr>
        <p:spPr>
          <a:xfrm>
            <a:off x="4005000" y="316368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Hold / Resume controls</a:t>
            </a:r>
            <a:endParaRPr lang="en-GB" sz="1050" b="0" u="none" strike="noStrike">
              <a:solidFill>
                <a:srgbClr val="FFFFFF"/>
              </a:solidFill>
              <a:effectLst/>
              <a:uFillTx/>
              <a:latin typeface="Arial"/>
            </a:endParaRPr>
          </a:p>
        </p:txBody>
      </p:sp>
      <p:sp>
        <p:nvSpPr>
          <p:cNvPr id="431" name="Rectangle 27"/>
          <p:cNvSpPr/>
          <p:nvPr/>
        </p:nvSpPr>
        <p:spPr>
          <a:xfrm>
            <a:off x="3858840" y="399600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2" name="TextBox 28"/>
          <p:cNvSpPr/>
          <p:nvPr/>
        </p:nvSpPr>
        <p:spPr>
          <a:xfrm>
            <a:off x="4005000" y="387720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Blind + attended transfer</a:t>
            </a:r>
            <a:endParaRPr lang="en-GB" sz="1050" b="0" u="none" strike="noStrike">
              <a:solidFill>
                <a:srgbClr val="FFFFFF"/>
              </a:solidFill>
              <a:effectLst/>
              <a:uFillTx/>
              <a:latin typeface="Arial"/>
            </a:endParaRPr>
          </a:p>
        </p:txBody>
      </p:sp>
      <p:sp>
        <p:nvSpPr>
          <p:cNvPr id="433" name="Rectangle 29"/>
          <p:cNvSpPr/>
          <p:nvPr/>
        </p:nvSpPr>
        <p:spPr>
          <a:xfrm>
            <a:off x="3858840" y="470916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4" name="TextBox 30"/>
          <p:cNvSpPr/>
          <p:nvPr/>
        </p:nvSpPr>
        <p:spPr>
          <a:xfrm>
            <a:off x="4005000" y="459036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3-way conference with drop</a:t>
            </a:r>
            <a:endParaRPr lang="en-GB" sz="1050" b="0" u="none" strike="noStrike">
              <a:solidFill>
                <a:srgbClr val="FFFFFF"/>
              </a:solidFill>
              <a:effectLst/>
              <a:uFillTx/>
              <a:latin typeface="Arial"/>
            </a:endParaRPr>
          </a:p>
        </p:txBody>
      </p:sp>
      <p:sp>
        <p:nvSpPr>
          <p:cNvPr id="435" name="Rectangle 31"/>
          <p:cNvSpPr/>
          <p:nvPr/>
        </p:nvSpPr>
        <p:spPr>
          <a:xfrm>
            <a:off x="3858840" y="542232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6" name="TextBox 32"/>
          <p:cNvSpPr/>
          <p:nvPr/>
        </p:nvSpPr>
        <p:spPr>
          <a:xfrm>
            <a:off x="4005000" y="530352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file selector + playback</a:t>
            </a:r>
            <a:endParaRPr lang="en-GB" sz="1050" b="0" u="none" strike="noStrike">
              <a:solidFill>
                <a:srgbClr val="FFFFFF"/>
              </a:solidFill>
              <a:effectLst/>
              <a:uFillTx/>
              <a:latin typeface="Arial"/>
            </a:endParaRPr>
          </a:p>
        </p:txBody>
      </p:sp>
      <p:sp>
        <p:nvSpPr>
          <p:cNvPr id="437" name="Rectangle 33"/>
          <p:cNvSpPr/>
          <p:nvPr/>
        </p:nvSpPr>
        <p:spPr>
          <a:xfrm>
            <a:off x="8595360" y="1188720"/>
            <a:ext cx="3291120" cy="41076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TextBox 34"/>
          <p:cNvSpPr/>
          <p:nvPr/>
        </p:nvSpPr>
        <p:spPr>
          <a:xfrm>
            <a:off x="8705160" y="1252800"/>
            <a:ext cx="31082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Right Panel (Tabs)</a:t>
            </a:r>
            <a:endParaRPr lang="en-GB" sz="1200" b="0" u="none" strike="noStrike">
              <a:solidFill>
                <a:srgbClr val="FFFFFF"/>
              </a:solidFill>
              <a:effectLst/>
              <a:uFillTx/>
              <a:latin typeface="Arial"/>
            </a:endParaRPr>
          </a:p>
        </p:txBody>
      </p:sp>
      <p:sp>
        <p:nvSpPr>
          <p:cNvPr id="439" name="Rectangle 35"/>
          <p:cNvSpPr/>
          <p:nvPr/>
        </p:nvSpPr>
        <p:spPr>
          <a:xfrm>
            <a:off x="8595360" y="1600200"/>
            <a:ext cx="329112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0" name="Rectangle 36"/>
          <p:cNvSpPr/>
          <p:nvPr/>
        </p:nvSpPr>
        <p:spPr>
          <a:xfrm>
            <a:off x="8705160" y="185616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1" name="TextBox 37"/>
          <p:cNvSpPr/>
          <p:nvPr/>
        </p:nvSpPr>
        <p:spPr>
          <a:xfrm>
            <a:off x="8851320" y="173736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Captures: ↓ PCAP · ↓ WAV per call</a:t>
            </a:r>
            <a:endParaRPr lang="en-GB" sz="1050" b="0" u="none" strike="noStrike">
              <a:solidFill>
                <a:srgbClr val="FFFFFF"/>
              </a:solidFill>
              <a:effectLst/>
              <a:uFillTx/>
              <a:latin typeface="Arial"/>
            </a:endParaRPr>
          </a:p>
        </p:txBody>
      </p:sp>
      <p:sp>
        <p:nvSpPr>
          <p:cNvPr id="442" name="Rectangle 38"/>
          <p:cNvSpPr/>
          <p:nvPr/>
        </p:nvSpPr>
        <p:spPr>
          <a:xfrm>
            <a:off x="8705160" y="256932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3" name="TextBox 39"/>
          <p:cNvSpPr/>
          <p:nvPr/>
        </p:nvSpPr>
        <p:spPr>
          <a:xfrm>
            <a:off x="8851320" y="245052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Files: upload · play · delete</a:t>
            </a:r>
            <a:endParaRPr lang="en-GB" sz="1050" b="0" u="none" strike="noStrike">
              <a:solidFill>
                <a:srgbClr val="FFFFFF"/>
              </a:solidFill>
              <a:effectLst/>
              <a:uFillTx/>
              <a:latin typeface="Arial"/>
            </a:endParaRPr>
          </a:p>
        </p:txBody>
      </p:sp>
      <p:sp>
        <p:nvSpPr>
          <p:cNvPr id="444" name="Rectangle 40"/>
          <p:cNvSpPr/>
          <p:nvPr/>
        </p:nvSpPr>
        <p:spPr>
          <a:xfrm>
            <a:off x="8705160" y="328284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5" name="TextBox 41"/>
          <p:cNvSpPr/>
          <p:nvPr/>
        </p:nvSpPr>
        <p:spPr>
          <a:xfrm>
            <a:off x="8851320" y="316368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History: direction, target, duration</a:t>
            </a:r>
            <a:endParaRPr lang="en-GB" sz="1050" b="0" u="none" strike="noStrike">
              <a:solidFill>
                <a:srgbClr val="FFFFFF"/>
              </a:solidFill>
              <a:effectLst/>
              <a:uFillTx/>
              <a:latin typeface="Arial"/>
            </a:endParaRPr>
          </a:p>
        </p:txBody>
      </p:sp>
      <p:sp>
        <p:nvSpPr>
          <p:cNvPr id="446" name="TextBox 42"/>
          <p:cNvSpPr/>
          <p:nvPr/>
        </p:nvSpPr>
        <p:spPr>
          <a:xfrm>
            <a:off x="8869680" y="387720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status, timestamp, ↓ pcap link</a:t>
            </a:r>
            <a:endParaRPr lang="en-GB" sz="1000" b="0" u="none" strike="noStrike">
              <a:solidFill>
                <a:srgbClr val="FFFFFF"/>
              </a:solidFill>
              <a:effectLst/>
              <a:uFillTx/>
              <a:latin typeface="Arial"/>
            </a:endParaRPr>
          </a:p>
        </p:txBody>
      </p:sp>
      <p:sp>
        <p:nvSpPr>
          <p:cNvPr id="447" name="Rectangle 43"/>
          <p:cNvSpPr/>
          <p:nvPr/>
        </p:nvSpPr>
        <p:spPr>
          <a:xfrm>
            <a:off x="8705160" y="470916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8" name="TextBox 44"/>
          <p:cNvSpPr/>
          <p:nvPr/>
        </p:nvSpPr>
        <p:spPr>
          <a:xfrm>
            <a:off x="8851320" y="459036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CSV export · Clear history</a:t>
            </a:r>
            <a:endParaRPr lang="en-GB" sz="1050" b="0" u="none" strike="noStrike">
              <a:solidFill>
                <a:srgbClr val="FFFFFF"/>
              </a:solidFill>
              <a:effectLst/>
              <a:uFillTx/>
              <a:latin typeface="Arial"/>
            </a:endParaRPr>
          </a:p>
        </p:txBody>
      </p:sp>
      <p:sp>
        <p:nvSpPr>
          <p:cNvPr id="449" name="Rectangle 45"/>
          <p:cNvSpPr/>
          <p:nvPr/>
        </p:nvSpPr>
        <p:spPr>
          <a:xfrm>
            <a:off x="8705160" y="542232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50" name="TextBox 46"/>
          <p:cNvSpPr/>
          <p:nvPr/>
        </p:nvSpPr>
        <p:spPr>
          <a:xfrm>
            <a:off x="8851320" y="530352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Collapsible log panel + export</a:t>
            </a:r>
            <a:endParaRPr lang="en-GB" sz="1050" b="0" u="none" strike="noStrike">
              <a:solidFill>
                <a:srgbClr val="FFFFFF"/>
              </a:solidFill>
              <a:effectLst/>
              <a:uFillTx/>
              <a:latin typeface="Arial"/>
            </a:endParaRPr>
          </a:p>
        </p:txBody>
      </p:sp>
      <p:sp>
        <p:nvSpPr>
          <p:cNvPr id="451" name="Rectangle 47"/>
          <p:cNvSpPr/>
          <p:nvPr/>
        </p:nvSpPr>
        <p:spPr>
          <a:xfrm>
            <a:off x="457200" y="6446520"/>
            <a:ext cx="11246400" cy="31932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TextBox 48"/>
          <p:cNvSpPr/>
          <p:nvPr/>
        </p:nvSpPr>
        <p:spPr>
          <a:xfrm>
            <a:off x="640080" y="6492240"/>
            <a:ext cx="1088064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Theme: Clarity  —  DM Sans + DM Mono  ·  White card surfaces  ·  Blue/Green/Amber status system  ·  Collapsible log with unread count</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453"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Technology Stack</a:t>
            </a:r>
            <a:endParaRPr lang="en-GB" sz="3400" b="0" u="none" strike="noStrike">
              <a:solidFill>
                <a:srgbClr val="FFFFFF"/>
              </a:solidFill>
              <a:effectLst/>
              <a:uFillTx/>
              <a:latin typeface="Arial"/>
            </a:endParaRPr>
          </a:p>
        </p:txBody>
      </p:sp>
      <p:sp>
        <p:nvSpPr>
          <p:cNvPr id="454"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455" name="Rectangle 3"/>
          <p:cNvSpPr/>
          <p:nvPr/>
        </p:nvSpPr>
        <p:spPr>
          <a:xfrm>
            <a:off x="548640" y="1143000"/>
            <a:ext cx="11063520" cy="36504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TextBox 4"/>
          <p:cNvSpPr/>
          <p:nvPr/>
        </p:nvSpPr>
        <p:spPr>
          <a:xfrm>
            <a:off x="640080" y="1207080"/>
            <a:ext cx="22852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Layer</a:t>
            </a:r>
            <a:endParaRPr lang="en-GB" sz="1100" b="0" u="none" strike="noStrike">
              <a:solidFill>
                <a:srgbClr val="FFFFFF"/>
              </a:solidFill>
              <a:effectLst/>
              <a:uFillTx/>
              <a:latin typeface="Arial"/>
            </a:endParaRPr>
          </a:p>
        </p:txBody>
      </p:sp>
      <p:sp>
        <p:nvSpPr>
          <p:cNvPr id="457" name="TextBox 5"/>
          <p:cNvSpPr/>
          <p:nvPr/>
        </p:nvSpPr>
        <p:spPr>
          <a:xfrm>
            <a:off x="3017520" y="1207080"/>
            <a:ext cx="22852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Technology</a:t>
            </a:r>
            <a:endParaRPr lang="en-GB" sz="1100" b="0" u="none" strike="noStrike">
              <a:solidFill>
                <a:srgbClr val="FFFFFF"/>
              </a:solidFill>
              <a:effectLst/>
              <a:uFillTx/>
              <a:latin typeface="Arial"/>
            </a:endParaRPr>
          </a:p>
        </p:txBody>
      </p:sp>
      <p:sp>
        <p:nvSpPr>
          <p:cNvPr id="458" name="TextBox 6"/>
          <p:cNvSpPr/>
          <p:nvPr/>
        </p:nvSpPr>
        <p:spPr>
          <a:xfrm>
            <a:off x="5577840" y="1207080"/>
            <a:ext cx="59428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Notes</a:t>
            </a:r>
            <a:endParaRPr lang="en-GB" sz="1100" b="0" u="none" strike="noStrike">
              <a:solidFill>
                <a:srgbClr val="FFFFFF"/>
              </a:solidFill>
              <a:effectLst/>
              <a:uFillTx/>
              <a:latin typeface="Arial"/>
            </a:endParaRPr>
          </a:p>
        </p:txBody>
      </p:sp>
      <p:sp>
        <p:nvSpPr>
          <p:cNvPr id="459" name="Rectangle 7"/>
          <p:cNvSpPr/>
          <p:nvPr/>
        </p:nvSpPr>
        <p:spPr>
          <a:xfrm>
            <a:off x="548640" y="1508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0" name="TextBox 8"/>
          <p:cNvSpPr/>
          <p:nvPr/>
        </p:nvSpPr>
        <p:spPr>
          <a:xfrm>
            <a:off x="685800" y="156348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Runtime</a:t>
            </a:r>
            <a:endParaRPr lang="en-GB" sz="1100" b="0" u="none" strike="noStrike">
              <a:solidFill>
                <a:srgbClr val="FFFFFF"/>
              </a:solidFill>
              <a:effectLst/>
              <a:uFillTx/>
              <a:latin typeface="Arial"/>
            </a:endParaRPr>
          </a:p>
        </p:txBody>
      </p:sp>
      <p:sp>
        <p:nvSpPr>
          <p:cNvPr id="461" name="TextBox 9"/>
          <p:cNvSpPr/>
          <p:nvPr/>
        </p:nvSpPr>
        <p:spPr>
          <a:xfrm>
            <a:off x="3017520" y="156348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Node.js 20</a:t>
            </a:r>
            <a:endParaRPr lang="en-GB" sz="1100" b="0" u="none" strike="noStrike">
              <a:solidFill>
                <a:srgbClr val="FFFFFF"/>
              </a:solidFill>
              <a:effectLst/>
              <a:uFillTx/>
              <a:latin typeface="Arial"/>
            </a:endParaRPr>
          </a:p>
        </p:txBody>
      </p:sp>
      <p:sp>
        <p:nvSpPr>
          <p:cNvPr id="462" name="TextBox 10"/>
          <p:cNvSpPr/>
          <p:nvPr/>
        </p:nvSpPr>
        <p:spPr>
          <a:xfrm>
            <a:off x="5577840" y="156348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Alpine-based container, tini PID1</a:t>
            </a:r>
            <a:endParaRPr lang="en-GB" sz="1050" b="0" u="none" strike="noStrike">
              <a:solidFill>
                <a:srgbClr val="FFFFFF"/>
              </a:solidFill>
              <a:effectLst/>
              <a:uFillTx/>
              <a:latin typeface="Arial"/>
            </a:endParaRPr>
          </a:p>
        </p:txBody>
      </p:sp>
      <p:sp>
        <p:nvSpPr>
          <p:cNvPr id="463" name="Rectangle 11"/>
          <p:cNvSpPr/>
          <p:nvPr/>
        </p:nvSpPr>
        <p:spPr>
          <a:xfrm>
            <a:off x="548640" y="1938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2"/>
          <p:cNvSpPr/>
          <p:nvPr/>
        </p:nvSpPr>
        <p:spPr>
          <a:xfrm>
            <a:off x="685800" y="199332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SIP Stack</a:t>
            </a:r>
            <a:endParaRPr lang="en-GB" sz="1100" b="0" u="none" strike="noStrike">
              <a:solidFill>
                <a:srgbClr val="FFFFFF"/>
              </a:solidFill>
              <a:effectLst/>
              <a:uFillTx/>
              <a:latin typeface="Arial"/>
            </a:endParaRPr>
          </a:p>
        </p:txBody>
      </p:sp>
      <p:sp>
        <p:nvSpPr>
          <p:cNvPr id="465" name="TextBox 13"/>
          <p:cNvSpPr/>
          <p:nvPr/>
        </p:nvSpPr>
        <p:spPr>
          <a:xfrm>
            <a:off x="3017520" y="199332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JsSIP 3.10</a:t>
            </a:r>
            <a:endParaRPr lang="en-GB" sz="1100" b="0" u="none" strike="noStrike">
              <a:solidFill>
                <a:srgbClr val="FFFFFF"/>
              </a:solidFill>
              <a:effectLst/>
              <a:uFillTx/>
              <a:latin typeface="Arial"/>
            </a:endParaRPr>
          </a:p>
        </p:txBody>
      </p:sp>
      <p:sp>
        <p:nvSpPr>
          <p:cNvPr id="466" name="TextBox 14"/>
          <p:cNvSpPr/>
          <p:nvPr/>
        </p:nvSpPr>
        <p:spPr>
          <a:xfrm>
            <a:off x="5577840" y="199332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WebSocket SIP UA with custom stubs for Node.js</a:t>
            </a:r>
            <a:endParaRPr lang="en-GB" sz="1050" b="0" u="none" strike="noStrike">
              <a:solidFill>
                <a:srgbClr val="FFFFFF"/>
              </a:solidFill>
              <a:effectLst/>
              <a:uFillTx/>
              <a:latin typeface="Arial"/>
            </a:endParaRPr>
          </a:p>
        </p:txBody>
      </p:sp>
      <p:sp>
        <p:nvSpPr>
          <p:cNvPr id="467" name="Rectangle 15"/>
          <p:cNvSpPr/>
          <p:nvPr/>
        </p:nvSpPr>
        <p:spPr>
          <a:xfrm>
            <a:off x="548640" y="2368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8" name="TextBox 16"/>
          <p:cNvSpPr/>
          <p:nvPr/>
        </p:nvSpPr>
        <p:spPr>
          <a:xfrm>
            <a:off x="685800" y="2423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Web Server</a:t>
            </a:r>
            <a:endParaRPr lang="en-GB" sz="1100" b="0" u="none" strike="noStrike">
              <a:solidFill>
                <a:srgbClr val="FFFFFF"/>
              </a:solidFill>
              <a:effectLst/>
              <a:uFillTx/>
              <a:latin typeface="Arial"/>
            </a:endParaRPr>
          </a:p>
        </p:txBody>
      </p:sp>
      <p:sp>
        <p:nvSpPr>
          <p:cNvPr id="469" name="TextBox 17"/>
          <p:cNvSpPr/>
          <p:nvPr/>
        </p:nvSpPr>
        <p:spPr>
          <a:xfrm>
            <a:off x="3017520" y="2423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Express 4</a:t>
            </a:r>
            <a:endParaRPr lang="en-GB" sz="1100" b="0" u="none" strike="noStrike">
              <a:solidFill>
                <a:srgbClr val="FFFFFF"/>
              </a:solidFill>
              <a:effectLst/>
              <a:uFillTx/>
              <a:latin typeface="Arial"/>
            </a:endParaRPr>
          </a:p>
        </p:txBody>
      </p:sp>
      <p:sp>
        <p:nvSpPr>
          <p:cNvPr id="470" name="TextBox 18"/>
          <p:cNvSpPr/>
          <p:nvPr/>
        </p:nvSpPr>
        <p:spPr>
          <a:xfrm>
            <a:off x="5577840" y="2423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REST API + static frontend + WebSocket hub</a:t>
            </a:r>
            <a:endParaRPr lang="en-GB" sz="1050" b="0" u="none" strike="noStrike">
              <a:solidFill>
                <a:srgbClr val="FFFFFF"/>
              </a:solidFill>
              <a:effectLst/>
              <a:uFillTx/>
              <a:latin typeface="Arial"/>
            </a:endParaRPr>
          </a:p>
        </p:txBody>
      </p:sp>
      <p:sp>
        <p:nvSpPr>
          <p:cNvPr id="471" name="Rectangle 19"/>
          <p:cNvSpPr/>
          <p:nvPr/>
        </p:nvSpPr>
        <p:spPr>
          <a:xfrm>
            <a:off x="548640" y="279792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20"/>
          <p:cNvSpPr/>
          <p:nvPr/>
        </p:nvSpPr>
        <p:spPr>
          <a:xfrm>
            <a:off x="685800" y="2853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WebSocket</a:t>
            </a:r>
            <a:endParaRPr lang="en-GB" sz="1100" b="0" u="none" strike="noStrike">
              <a:solidFill>
                <a:srgbClr val="FFFFFF"/>
              </a:solidFill>
              <a:effectLst/>
              <a:uFillTx/>
              <a:latin typeface="Arial"/>
            </a:endParaRPr>
          </a:p>
        </p:txBody>
      </p:sp>
      <p:sp>
        <p:nvSpPr>
          <p:cNvPr id="473" name="TextBox 21"/>
          <p:cNvSpPr/>
          <p:nvPr/>
        </p:nvSpPr>
        <p:spPr>
          <a:xfrm>
            <a:off x="3017520" y="2853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ws 8</a:t>
            </a:r>
            <a:endParaRPr lang="en-GB" sz="1100" b="0" u="none" strike="noStrike">
              <a:solidFill>
                <a:srgbClr val="FFFFFF"/>
              </a:solidFill>
              <a:effectLst/>
              <a:uFillTx/>
              <a:latin typeface="Arial"/>
            </a:endParaRPr>
          </a:p>
        </p:txBody>
      </p:sp>
      <p:sp>
        <p:nvSpPr>
          <p:cNvPr id="474" name="TextBox 22"/>
          <p:cNvSpPr/>
          <p:nvPr/>
        </p:nvSpPr>
        <p:spPr>
          <a:xfrm>
            <a:off x="5577840" y="2853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Server-side WS for SIP transport and UI events</a:t>
            </a:r>
            <a:endParaRPr lang="en-GB" sz="1050" b="0" u="none" strike="noStrike">
              <a:solidFill>
                <a:srgbClr val="FFFFFF"/>
              </a:solidFill>
              <a:effectLst/>
              <a:uFillTx/>
              <a:latin typeface="Arial"/>
            </a:endParaRPr>
          </a:p>
        </p:txBody>
      </p:sp>
      <p:sp>
        <p:nvSpPr>
          <p:cNvPr id="475" name="Rectangle 23"/>
          <p:cNvSpPr/>
          <p:nvPr/>
        </p:nvSpPr>
        <p:spPr>
          <a:xfrm>
            <a:off x="548640" y="3227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6" name="TextBox 24"/>
          <p:cNvSpPr/>
          <p:nvPr/>
        </p:nvSpPr>
        <p:spPr>
          <a:xfrm>
            <a:off x="685800" y="328284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Media</a:t>
            </a:r>
            <a:endParaRPr lang="en-GB" sz="1100" b="0" u="none" strike="noStrike">
              <a:solidFill>
                <a:srgbClr val="FFFFFF"/>
              </a:solidFill>
              <a:effectLst/>
              <a:uFillTx/>
              <a:latin typeface="Arial"/>
            </a:endParaRPr>
          </a:p>
        </p:txBody>
      </p:sp>
      <p:sp>
        <p:nvSpPr>
          <p:cNvPr id="477" name="TextBox 25"/>
          <p:cNvSpPr/>
          <p:nvPr/>
        </p:nvSpPr>
        <p:spPr>
          <a:xfrm>
            <a:off x="3017520" y="328284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Node.js dgram</a:t>
            </a:r>
            <a:endParaRPr lang="en-GB" sz="1100" b="0" u="none" strike="noStrike">
              <a:solidFill>
                <a:srgbClr val="FFFFFF"/>
              </a:solidFill>
              <a:effectLst/>
              <a:uFillTx/>
              <a:latin typeface="Arial"/>
            </a:endParaRPr>
          </a:p>
        </p:txBody>
      </p:sp>
      <p:sp>
        <p:nvSpPr>
          <p:cNvPr id="478" name="TextBox 26"/>
          <p:cNvSpPr/>
          <p:nvPr/>
        </p:nvSpPr>
        <p:spPr>
          <a:xfrm>
            <a:off x="5577840" y="3282840"/>
            <a:ext cx="585144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Raw UDP RTP - no WebRTC, no audio hardware</a:t>
            </a:r>
            <a:endParaRPr lang="en-GB" sz="1050" b="0" u="none" strike="noStrike">
              <a:solidFill>
                <a:srgbClr val="FFFFFF"/>
              </a:solidFill>
              <a:effectLst/>
              <a:uFillTx/>
              <a:latin typeface="Arial"/>
            </a:endParaRPr>
          </a:p>
        </p:txBody>
      </p:sp>
      <p:sp>
        <p:nvSpPr>
          <p:cNvPr id="479" name="Rectangle 27"/>
          <p:cNvSpPr/>
          <p:nvPr/>
        </p:nvSpPr>
        <p:spPr>
          <a:xfrm>
            <a:off x="548640" y="3657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0" name="TextBox 28"/>
          <p:cNvSpPr/>
          <p:nvPr/>
        </p:nvSpPr>
        <p:spPr>
          <a:xfrm>
            <a:off x="685800" y="371232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Audio Codec</a:t>
            </a:r>
            <a:endParaRPr lang="en-GB" sz="1100" b="0" u="none" strike="noStrike">
              <a:solidFill>
                <a:srgbClr val="FFFFFF"/>
              </a:solidFill>
              <a:effectLst/>
              <a:uFillTx/>
              <a:latin typeface="Arial"/>
            </a:endParaRPr>
          </a:p>
        </p:txBody>
      </p:sp>
      <p:sp>
        <p:nvSpPr>
          <p:cNvPr id="481" name="TextBox 29"/>
          <p:cNvSpPr/>
          <p:nvPr/>
        </p:nvSpPr>
        <p:spPr>
          <a:xfrm>
            <a:off x="3017520" y="371232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G.722 ADPCM</a:t>
            </a:r>
            <a:endParaRPr lang="en-GB" sz="1100" b="0" u="none" strike="noStrike">
              <a:solidFill>
                <a:srgbClr val="FFFFFF"/>
              </a:solidFill>
              <a:effectLst/>
              <a:uFillTx/>
              <a:latin typeface="Arial"/>
            </a:endParaRPr>
          </a:p>
        </p:txBody>
      </p:sp>
      <p:sp>
        <p:nvSpPr>
          <p:cNvPr id="482" name="TextBox 30"/>
          <p:cNvSpPr/>
          <p:nvPr/>
        </p:nvSpPr>
        <p:spPr>
          <a:xfrm>
            <a:off x="5577840" y="371232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ffmpeg encode at upload · custom decoder for recording</a:t>
            </a:r>
            <a:endParaRPr lang="en-GB" sz="1050" b="0" u="none" strike="noStrike">
              <a:solidFill>
                <a:srgbClr val="FFFFFF"/>
              </a:solidFill>
              <a:effectLst/>
              <a:uFillTx/>
              <a:latin typeface="Arial"/>
            </a:endParaRPr>
          </a:p>
        </p:txBody>
      </p:sp>
      <p:sp>
        <p:nvSpPr>
          <p:cNvPr id="483" name="Rectangle 31"/>
          <p:cNvSpPr/>
          <p:nvPr/>
        </p:nvSpPr>
        <p:spPr>
          <a:xfrm>
            <a:off x="548640" y="4087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4" name="TextBox 32"/>
          <p:cNvSpPr/>
          <p:nvPr/>
        </p:nvSpPr>
        <p:spPr>
          <a:xfrm>
            <a:off x="685800" y="4142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a:t>
            </a:r>
            <a:endParaRPr lang="en-GB" sz="1100" b="0" u="none" strike="noStrike">
              <a:solidFill>
                <a:srgbClr val="FFFFFF"/>
              </a:solidFill>
              <a:effectLst/>
              <a:uFillTx/>
              <a:latin typeface="Arial"/>
            </a:endParaRPr>
          </a:p>
        </p:txBody>
      </p:sp>
      <p:sp>
        <p:nvSpPr>
          <p:cNvPr id="485" name="TextBox 33"/>
          <p:cNvSpPr/>
          <p:nvPr/>
        </p:nvSpPr>
        <p:spPr>
          <a:xfrm>
            <a:off x="3017520" y="4142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libpcap format</a:t>
            </a:r>
            <a:endParaRPr lang="en-GB" sz="1100" b="0" u="none" strike="noStrike">
              <a:solidFill>
                <a:srgbClr val="FFFFFF"/>
              </a:solidFill>
              <a:effectLst/>
              <a:uFillTx/>
              <a:latin typeface="Arial"/>
            </a:endParaRPr>
          </a:p>
        </p:txBody>
      </p:sp>
      <p:sp>
        <p:nvSpPr>
          <p:cNvPr id="486" name="TextBox 34"/>
          <p:cNvSpPr/>
          <p:nvPr/>
        </p:nvSpPr>
        <p:spPr>
          <a:xfrm>
            <a:off x="5577840" y="4142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Hand-written pcap writer in pure JavaScript</a:t>
            </a:r>
            <a:endParaRPr lang="en-GB" sz="1050" b="0" u="none" strike="noStrike">
              <a:solidFill>
                <a:srgbClr val="FFFFFF"/>
              </a:solidFill>
              <a:effectLst/>
              <a:uFillTx/>
              <a:latin typeface="Arial"/>
            </a:endParaRPr>
          </a:p>
        </p:txBody>
      </p:sp>
      <p:sp>
        <p:nvSpPr>
          <p:cNvPr id="487" name="Rectangle 35"/>
          <p:cNvSpPr/>
          <p:nvPr/>
        </p:nvSpPr>
        <p:spPr>
          <a:xfrm>
            <a:off x="548640" y="451728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8" name="TextBox 36"/>
          <p:cNvSpPr/>
          <p:nvPr/>
        </p:nvSpPr>
        <p:spPr>
          <a:xfrm>
            <a:off x="685800" y="4572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File Upload</a:t>
            </a:r>
            <a:endParaRPr lang="en-GB" sz="1100" b="0" u="none" strike="noStrike">
              <a:solidFill>
                <a:srgbClr val="FFFFFF"/>
              </a:solidFill>
              <a:effectLst/>
              <a:uFillTx/>
              <a:latin typeface="Arial"/>
            </a:endParaRPr>
          </a:p>
        </p:txBody>
      </p:sp>
      <p:sp>
        <p:nvSpPr>
          <p:cNvPr id="489" name="TextBox 37"/>
          <p:cNvSpPr/>
          <p:nvPr/>
        </p:nvSpPr>
        <p:spPr>
          <a:xfrm>
            <a:off x="3017520" y="4572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multer 1.4</a:t>
            </a:r>
            <a:endParaRPr lang="en-GB" sz="1100" b="0" u="none" strike="noStrike">
              <a:solidFill>
                <a:srgbClr val="FFFFFF"/>
              </a:solidFill>
              <a:effectLst/>
              <a:uFillTx/>
              <a:latin typeface="Arial"/>
            </a:endParaRPr>
          </a:p>
        </p:txBody>
      </p:sp>
      <p:sp>
        <p:nvSpPr>
          <p:cNvPr id="490" name="TextBox 38"/>
          <p:cNvSpPr/>
          <p:nvPr/>
        </p:nvSpPr>
        <p:spPr>
          <a:xfrm>
            <a:off x="5577840" y="4572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upload → ffmpeg → raw G.722 bitstream</a:t>
            </a:r>
            <a:endParaRPr lang="en-GB" sz="1050" b="0" u="none" strike="noStrike">
              <a:solidFill>
                <a:srgbClr val="FFFFFF"/>
              </a:solidFill>
              <a:effectLst/>
              <a:uFillTx/>
              <a:latin typeface="Arial"/>
            </a:endParaRPr>
          </a:p>
        </p:txBody>
      </p:sp>
      <p:sp>
        <p:nvSpPr>
          <p:cNvPr id="491" name="Rectangle 39"/>
          <p:cNvSpPr/>
          <p:nvPr/>
        </p:nvSpPr>
        <p:spPr>
          <a:xfrm>
            <a:off x="548640" y="4946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2" name="TextBox 40"/>
          <p:cNvSpPr/>
          <p:nvPr/>
        </p:nvSpPr>
        <p:spPr>
          <a:xfrm>
            <a:off x="685800" y="500184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Audio Convert</a:t>
            </a:r>
            <a:endParaRPr lang="en-GB" sz="1100" b="0" u="none" strike="noStrike">
              <a:solidFill>
                <a:srgbClr val="FFFFFF"/>
              </a:solidFill>
              <a:effectLst/>
              <a:uFillTx/>
              <a:latin typeface="Arial"/>
            </a:endParaRPr>
          </a:p>
        </p:txBody>
      </p:sp>
      <p:sp>
        <p:nvSpPr>
          <p:cNvPr id="493" name="TextBox 41"/>
          <p:cNvSpPr/>
          <p:nvPr/>
        </p:nvSpPr>
        <p:spPr>
          <a:xfrm>
            <a:off x="3017520" y="500184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ffmpeg</a:t>
            </a:r>
            <a:endParaRPr lang="en-GB" sz="1100" b="0" u="none" strike="noStrike">
              <a:solidFill>
                <a:srgbClr val="FFFFFF"/>
              </a:solidFill>
              <a:effectLst/>
              <a:uFillTx/>
              <a:latin typeface="Arial"/>
            </a:endParaRPr>
          </a:p>
        </p:txBody>
      </p:sp>
      <p:sp>
        <p:nvSpPr>
          <p:cNvPr id="494" name="TextBox 42"/>
          <p:cNvSpPr/>
          <p:nvPr/>
        </p:nvSpPr>
        <p:spPr>
          <a:xfrm>
            <a:off x="5577840" y="500184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 16kHz mono G.722 at upload time in container</a:t>
            </a:r>
            <a:endParaRPr lang="en-GB" sz="1050" b="0" u="none" strike="noStrike">
              <a:solidFill>
                <a:srgbClr val="FFFFFF"/>
              </a:solidFill>
              <a:effectLst/>
              <a:uFillTx/>
              <a:latin typeface="Arial"/>
            </a:endParaRPr>
          </a:p>
        </p:txBody>
      </p:sp>
      <p:sp>
        <p:nvSpPr>
          <p:cNvPr id="495" name="Rectangle 43"/>
          <p:cNvSpPr/>
          <p:nvPr/>
        </p:nvSpPr>
        <p:spPr>
          <a:xfrm>
            <a:off x="548640" y="5376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6" name="TextBox 44"/>
          <p:cNvSpPr/>
          <p:nvPr/>
        </p:nvSpPr>
        <p:spPr>
          <a:xfrm>
            <a:off x="685800" y="543168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History</a:t>
            </a:r>
            <a:endParaRPr lang="en-GB" sz="1100" b="0" u="none" strike="noStrike">
              <a:solidFill>
                <a:srgbClr val="FFFFFF"/>
              </a:solidFill>
              <a:effectLst/>
              <a:uFillTx/>
              <a:latin typeface="Arial"/>
            </a:endParaRPr>
          </a:p>
        </p:txBody>
      </p:sp>
      <p:sp>
        <p:nvSpPr>
          <p:cNvPr id="497" name="TextBox 45"/>
          <p:cNvSpPr/>
          <p:nvPr/>
        </p:nvSpPr>
        <p:spPr>
          <a:xfrm>
            <a:off x="3017520" y="543168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JSON file</a:t>
            </a:r>
            <a:endParaRPr lang="en-GB" sz="1100" b="0" u="none" strike="noStrike">
              <a:solidFill>
                <a:srgbClr val="FFFFFF"/>
              </a:solidFill>
              <a:effectLst/>
              <a:uFillTx/>
              <a:latin typeface="Arial"/>
            </a:endParaRPr>
          </a:p>
        </p:txBody>
      </p:sp>
      <p:sp>
        <p:nvSpPr>
          <p:cNvPr id="498" name="TextBox 46"/>
          <p:cNvSpPr/>
          <p:nvPr/>
        </p:nvSpPr>
        <p:spPr>
          <a:xfrm>
            <a:off x="5577840" y="543168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Persistent to /captures volume, CSV export</a:t>
            </a:r>
            <a:endParaRPr lang="en-GB" sz="1050" b="0" u="none" strike="noStrike">
              <a:solidFill>
                <a:srgbClr val="FFFFFF"/>
              </a:solidFill>
              <a:effectLst/>
              <a:uFillTx/>
              <a:latin typeface="Arial"/>
            </a:endParaRPr>
          </a:p>
        </p:txBody>
      </p:sp>
      <p:sp>
        <p:nvSpPr>
          <p:cNvPr id="499" name="Rectangle 47"/>
          <p:cNvSpPr/>
          <p:nvPr/>
        </p:nvSpPr>
        <p:spPr>
          <a:xfrm>
            <a:off x="548640" y="5806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0" name="TextBox 48"/>
          <p:cNvSpPr/>
          <p:nvPr/>
        </p:nvSpPr>
        <p:spPr>
          <a:xfrm>
            <a:off x="685800" y="5861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Frontend</a:t>
            </a:r>
            <a:endParaRPr lang="en-GB" sz="1100" b="0" u="none" strike="noStrike">
              <a:solidFill>
                <a:srgbClr val="FFFFFF"/>
              </a:solidFill>
              <a:effectLst/>
              <a:uFillTx/>
              <a:latin typeface="Arial"/>
            </a:endParaRPr>
          </a:p>
        </p:txBody>
      </p:sp>
      <p:sp>
        <p:nvSpPr>
          <p:cNvPr id="501" name="TextBox 49"/>
          <p:cNvSpPr/>
          <p:nvPr/>
        </p:nvSpPr>
        <p:spPr>
          <a:xfrm>
            <a:off x="3017520" y="5861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Vanilla HTML/JS</a:t>
            </a:r>
            <a:endParaRPr lang="en-GB" sz="1100" b="0" u="none" strike="noStrike">
              <a:solidFill>
                <a:srgbClr val="FFFFFF"/>
              </a:solidFill>
              <a:effectLst/>
              <a:uFillTx/>
              <a:latin typeface="Arial"/>
            </a:endParaRPr>
          </a:p>
        </p:txBody>
      </p:sp>
      <p:sp>
        <p:nvSpPr>
          <p:cNvPr id="502" name="TextBox 50"/>
          <p:cNvSpPr/>
          <p:nvPr/>
        </p:nvSpPr>
        <p:spPr>
          <a:xfrm>
            <a:off x="5577840" y="5861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Single-file, no framework, WebSocket-driven</a:t>
            </a:r>
            <a:endParaRPr lang="en-GB" sz="1050" b="0" u="none" strike="noStrike">
              <a:solidFill>
                <a:srgbClr val="FFFFFF"/>
              </a:solidFill>
              <a:effectLst/>
              <a:uFillTx/>
              <a:latin typeface="Arial"/>
            </a:endParaRPr>
          </a:p>
        </p:txBody>
      </p:sp>
      <p:sp>
        <p:nvSpPr>
          <p:cNvPr id="503" name="Rectangle 51"/>
          <p:cNvSpPr/>
          <p:nvPr/>
        </p:nvSpPr>
        <p:spPr>
          <a:xfrm>
            <a:off x="548640" y="623628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4" name="TextBox 52"/>
          <p:cNvSpPr/>
          <p:nvPr/>
        </p:nvSpPr>
        <p:spPr>
          <a:xfrm>
            <a:off x="685800" y="6291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API Spec</a:t>
            </a:r>
            <a:endParaRPr lang="en-GB" sz="1100" b="0" u="none" strike="noStrike">
              <a:solidFill>
                <a:srgbClr val="FFFFFF"/>
              </a:solidFill>
              <a:effectLst/>
              <a:uFillTx/>
              <a:latin typeface="Arial"/>
            </a:endParaRPr>
          </a:p>
        </p:txBody>
      </p:sp>
      <p:sp>
        <p:nvSpPr>
          <p:cNvPr id="505" name="TextBox 53"/>
          <p:cNvSpPr/>
          <p:nvPr/>
        </p:nvSpPr>
        <p:spPr>
          <a:xfrm>
            <a:off x="3017520" y="6291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OpenAPI 3.1</a:t>
            </a:r>
            <a:endParaRPr lang="en-GB" sz="1100" b="0" u="none" strike="noStrike">
              <a:solidFill>
                <a:srgbClr val="FFFFFF"/>
              </a:solidFill>
              <a:effectLst/>
              <a:uFillTx/>
              <a:latin typeface="Arial"/>
            </a:endParaRPr>
          </a:p>
        </p:txBody>
      </p:sp>
      <p:sp>
        <p:nvSpPr>
          <p:cNvPr id="506" name="TextBox 54"/>
          <p:cNvSpPr/>
          <p:nvPr/>
        </p:nvSpPr>
        <p:spPr>
          <a:xfrm>
            <a:off x="5577840" y="6291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Full spec included — Swagger / Postman / Redocly</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07"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Key Design Decisions</a:t>
            </a:r>
            <a:endParaRPr lang="en-GB" sz="3400" b="0" u="none" strike="noStrike">
              <a:solidFill>
                <a:srgbClr val="FFFFFF"/>
              </a:solidFill>
              <a:effectLst/>
              <a:uFillTx/>
              <a:latin typeface="Arial"/>
            </a:endParaRPr>
          </a:p>
        </p:txBody>
      </p:sp>
      <p:sp>
        <p:nvSpPr>
          <p:cNvPr id="508"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09" name="Rectangle 3"/>
          <p:cNvSpPr/>
          <p:nvPr/>
        </p:nvSpPr>
        <p:spPr>
          <a:xfrm>
            <a:off x="457200" y="118872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Rectangle 4"/>
          <p:cNvSpPr/>
          <p:nvPr/>
        </p:nvSpPr>
        <p:spPr>
          <a:xfrm>
            <a:off x="457200" y="1188720"/>
            <a:ext cx="557712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11" name="Rectangle 5"/>
          <p:cNvSpPr/>
          <p:nvPr/>
        </p:nvSpPr>
        <p:spPr>
          <a:xfrm>
            <a:off x="457200" y="1225440"/>
            <a:ext cx="45000" cy="2431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12" name="TextBox 6"/>
          <p:cNvSpPr/>
          <p:nvPr/>
        </p:nvSpPr>
        <p:spPr>
          <a:xfrm>
            <a:off x="621720" y="128016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2563EB"/>
                </a:solidFill>
                <a:effectLst/>
                <a:uFillTx/>
                <a:latin typeface="Calibri Bold"/>
              </a:rPr>
              <a:t>JsSIP in Node.js - Why &amp; How</a:t>
            </a:r>
            <a:endParaRPr lang="en-GB" sz="1300" b="0" u="none" strike="noStrike">
              <a:solidFill>
                <a:srgbClr val="FFFFFF"/>
              </a:solidFill>
              <a:effectLst/>
              <a:uFillTx/>
              <a:latin typeface="Arial"/>
            </a:endParaRPr>
          </a:p>
        </p:txBody>
      </p:sp>
      <p:sp>
        <p:nvSpPr>
          <p:cNvPr id="513" name="TextBox 7"/>
          <p:cNvSpPr/>
          <p:nvPr/>
        </p:nvSpPr>
        <p:spPr>
          <a:xfrm>
            <a:off x="621720" y="173736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JsSIP is browser-first. Making it work in Node required: injecting global.WebSocket, stubbing RTCPeerConnection with immediate ICE signalling (onicecandidate null), and bypassing renegotiate() entirely for hold/resume by writing raw SIP directly to transport._ws.</a:t>
            </a:r>
            <a:endParaRPr lang="en-GB" sz="1050" b="0" u="none" strike="noStrike">
              <a:solidFill>
                <a:srgbClr val="FFFFFF"/>
              </a:solidFill>
              <a:effectLst/>
              <a:uFillTx/>
              <a:latin typeface="Arial"/>
            </a:endParaRPr>
          </a:p>
        </p:txBody>
      </p:sp>
      <p:sp>
        <p:nvSpPr>
          <p:cNvPr id="514" name="Rectangle 8"/>
          <p:cNvSpPr/>
          <p:nvPr/>
        </p:nvSpPr>
        <p:spPr>
          <a:xfrm>
            <a:off x="6263640" y="118872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5" name="Rectangle 9"/>
          <p:cNvSpPr/>
          <p:nvPr/>
        </p:nvSpPr>
        <p:spPr>
          <a:xfrm>
            <a:off x="6263640" y="1188720"/>
            <a:ext cx="557712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16" name="Rectangle 10"/>
          <p:cNvSpPr/>
          <p:nvPr/>
        </p:nvSpPr>
        <p:spPr>
          <a:xfrm>
            <a:off x="6263640" y="1225440"/>
            <a:ext cx="45000" cy="24314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17" name="TextBox 11"/>
          <p:cNvSpPr/>
          <p:nvPr/>
        </p:nvSpPr>
        <p:spPr>
          <a:xfrm>
            <a:off x="6428160" y="128016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D97706"/>
                </a:solidFill>
                <a:effectLst/>
                <a:uFillTx/>
                <a:latin typeface="Calibri Bold"/>
              </a:rPr>
              <a:t>No tcpdump -Pure Node.js pcap</a:t>
            </a:r>
            <a:endParaRPr lang="en-GB" sz="1300" b="0" u="none" strike="noStrike">
              <a:solidFill>
                <a:srgbClr val="FFFFFF"/>
              </a:solidFill>
              <a:effectLst/>
              <a:uFillTx/>
              <a:latin typeface="Arial"/>
            </a:endParaRPr>
          </a:p>
        </p:txBody>
      </p:sp>
      <p:sp>
        <p:nvSpPr>
          <p:cNvPr id="518" name="TextBox 12"/>
          <p:cNvSpPr/>
          <p:nvPr/>
        </p:nvSpPr>
        <p:spPr>
          <a:xfrm>
            <a:off x="6428160" y="173736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Cloud and rootless Podman environments restrict raw socket access. The captureManager writes valid libpcap files directly using Buffer operations — same format as Wireshark, zero system dependencies.</a:t>
            </a:r>
            <a:endParaRPr lang="en-GB" sz="1050" b="0" u="none" strike="noStrike">
              <a:solidFill>
                <a:srgbClr val="FFFFFF"/>
              </a:solidFill>
              <a:effectLst/>
              <a:uFillTx/>
              <a:latin typeface="Arial"/>
            </a:endParaRPr>
          </a:p>
        </p:txBody>
      </p:sp>
      <p:sp>
        <p:nvSpPr>
          <p:cNvPr id="519" name="Rectangle 13"/>
          <p:cNvSpPr/>
          <p:nvPr/>
        </p:nvSpPr>
        <p:spPr>
          <a:xfrm>
            <a:off x="457200" y="388620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0" name="Rectangle 14"/>
          <p:cNvSpPr/>
          <p:nvPr/>
        </p:nvSpPr>
        <p:spPr>
          <a:xfrm>
            <a:off x="457200" y="3886200"/>
            <a:ext cx="557712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21" name="Rectangle 15"/>
          <p:cNvSpPr/>
          <p:nvPr/>
        </p:nvSpPr>
        <p:spPr>
          <a:xfrm>
            <a:off x="457200" y="3922920"/>
            <a:ext cx="45000" cy="243144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22" name="TextBox 16"/>
          <p:cNvSpPr/>
          <p:nvPr/>
        </p:nvSpPr>
        <p:spPr>
          <a:xfrm>
            <a:off x="621720" y="397764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7C3AED"/>
                </a:solidFill>
                <a:effectLst/>
                <a:uFillTx/>
                <a:latin typeface="Calibri Bold"/>
              </a:rPr>
              <a:t>G.722 over PCMU - Wideband by Default</a:t>
            </a:r>
            <a:endParaRPr lang="en-GB" sz="1300" b="0" u="none" strike="noStrike">
              <a:solidFill>
                <a:srgbClr val="FFFFFF"/>
              </a:solidFill>
              <a:effectLst/>
              <a:uFillTx/>
              <a:latin typeface="Arial"/>
            </a:endParaRPr>
          </a:p>
        </p:txBody>
      </p:sp>
      <p:sp>
        <p:nvSpPr>
          <p:cNvPr id="523" name="TextBox 17"/>
          <p:cNvSpPr/>
          <p:nvPr/>
        </p:nvSpPr>
        <p:spPr>
          <a:xfrm>
            <a:off x="621720" y="443484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SDP advertises G.722 (PT 9) as the preferred codec. WAV files are converted to raw G.722 at upload time using ffmpeg so playback is zero-cost at runtime — just send bytes. A custom ADPCM decoder handles inbound recording.</a:t>
            </a:r>
            <a:endParaRPr lang="en-GB" sz="1050" b="0" u="none" strike="noStrike">
              <a:solidFill>
                <a:srgbClr val="FFFFFF"/>
              </a:solidFill>
              <a:effectLst/>
              <a:uFillTx/>
              <a:latin typeface="Arial"/>
            </a:endParaRPr>
          </a:p>
        </p:txBody>
      </p:sp>
      <p:sp>
        <p:nvSpPr>
          <p:cNvPr id="524" name="Rectangle 18"/>
          <p:cNvSpPr/>
          <p:nvPr/>
        </p:nvSpPr>
        <p:spPr>
          <a:xfrm>
            <a:off x="6263640" y="388620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5" name="Rectangle 19"/>
          <p:cNvSpPr/>
          <p:nvPr/>
        </p:nvSpPr>
        <p:spPr>
          <a:xfrm>
            <a:off x="6263640" y="3886200"/>
            <a:ext cx="557712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26" name="Rectangle 20"/>
          <p:cNvSpPr/>
          <p:nvPr/>
        </p:nvSpPr>
        <p:spPr>
          <a:xfrm>
            <a:off x="6263640" y="3922920"/>
            <a:ext cx="45000" cy="243144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27" name="TextBox 21"/>
          <p:cNvSpPr/>
          <p:nvPr/>
        </p:nvSpPr>
        <p:spPr>
          <a:xfrm>
            <a:off x="6428160" y="3977640"/>
            <a:ext cx="52113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59669"/>
                </a:solidFill>
                <a:effectLst/>
                <a:uFillTx/>
                <a:latin typeface="Calibri Bold"/>
              </a:rPr>
              <a:t>Stream Hijacking for WAV Playback</a:t>
            </a:r>
            <a:endParaRPr lang="en-GB" sz="1300" b="0" u="none" strike="noStrike">
              <a:solidFill>
                <a:srgbClr val="FFFFFF"/>
              </a:solidFill>
              <a:effectLst/>
              <a:uFillTx/>
              <a:latin typeface="Arial"/>
            </a:endParaRPr>
          </a:p>
        </p:txBody>
      </p:sp>
      <p:sp>
        <p:nvSpPr>
          <p:cNvPr id="528" name="TextBox 22"/>
          <p:cNvSpPr/>
          <p:nvPr/>
        </p:nvSpPr>
        <p:spPr>
          <a:xfrm>
            <a:off x="6428160" y="443484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During playback, the RtpBridge copies the live stream's SSRC and sequence number before taking over. Incoming RTP is suppressed. This avoids jitter buffer confusion at the far end caused by two SSRCs on the same flow.</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29" name="Rectangle 1"/>
          <p:cNvSpPr/>
          <p:nvPr/>
        </p:nvSpPr>
        <p:spPr>
          <a:xfrm>
            <a:off x="0" y="0"/>
            <a:ext cx="5028480" cy="68572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0" name="Rectangle 2"/>
          <p:cNvSpPr/>
          <p:nvPr/>
        </p:nvSpPr>
        <p:spPr>
          <a:xfrm>
            <a:off x="5029200" y="0"/>
            <a:ext cx="54000" cy="68572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531" name="TextBox 3"/>
          <p:cNvSpPr/>
          <p:nvPr/>
        </p:nvSpPr>
        <p:spPr>
          <a:xfrm>
            <a:off x="640080" y="1554480"/>
            <a:ext cx="1005120" cy="4564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Bold"/>
              </a:rPr>
              <a:t>SIP</a:t>
            </a:r>
            <a:endParaRPr lang="en-GB" sz="2200" b="0" u="none" strike="noStrike">
              <a:solidFill>
                <a:srgbClr val="FFFFFF"/>
              </a:solidFill>
              <a:effectLst/>
              <a:uFillTx/>
              <a:latin typeface="Arial"/>
            </a:endParaRPr>
          </a:p>
        </p:txBody>
      </p:sp>
      <p:sp>
        <p:nvSpPr>
          <p:cNvPr id="532" name="Rectangle 4"/>
          <p:cNvSpPr/>
          <p:nvPr/>
        </p:nvSpPr>
        <p:spPr>
          <a:xfrm>
            <a:off x="640080" y="1554480"/>
            <a:ext cx="100512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3" name="TextBox 5"/>
          <p:cNvSpPr/>
          <p:nvPr/>
        </p:nvSpPr>
        <p:spPr>
          <a:xfrm>
            <a:off x="1783080" y="155448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Bold"/>
              </a:rPr>
              <a:t>Endpoint</a:t>
            </a:r>
            <a:endParaRPr lang="en-GB" sz="2800" b="0" u="none" strike="noStrike">
              <a:solidFill>
                <a:srgbClr val="FFFFFF"/>
              </a:solidFill>
              <a:effectLst/>
              <a:uFillTx/>
              <a:latin typeface="Arial"/>
            </a:endParaRPr>
          </a:p>
        </p:txBody>
      </p:sp>
      <p:sp>
        <p:nvSpPr>
          <p:cNvPr id="534" name="TextBox 6"/>
          <p:cNvSpPr/>
          <p:nvPr/>
        </p:nvSpPr>
        <p:spPr>
          <a:xfrm>
            <a:off x="640080" y="2176200"/>
            <a:ext cx="41140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500" b="0" u="none" strike="noStrike">
                <a:solidFill>
                  <a:srgbClr val="00D4FF"/>
                </a:solidFill>
                <a:effectLst/>
                <a:uFillTx/>
                <a:latin typeface="Calibri"/>
              </a:rPr>
              <a:t>Containerized SIP Softphone</a:t>
            </a:r>
            <a:endParaRPr lang="en-GB" sz="1500" b="0" u="none" strike="noStrike">
              <a:solidFill>
                <a:srgbClr val="FFFFFF"/>
              </a:solidFill>
              <a:effectLst/>
              <a:uFillTx/>
              <a:latin typeface="Arial"/>
            </a:endParaRPr>
          </a:p>
        </p:txBody>
      </p:sp>
      <p:sp>
        <p:nvSpPr>
          <p:cNvPr id="535" name="TextBox 7"/>
          <p:cNvSpPr/>
          <p:nvPr/>
        </p:nvSpPr>
        <p:spPr>
          <a:xfrm>
            <a:off x="640080" y="2834640"/>
            <a:ext cx="4114080" cy="3199680"/>
          </a:xfrm>
          <a:prstGeom prst="rect">
            <a:avLst/>
          </a:prstGeom>
          <a:noFill/>
          <a:ln w="0">
            <a:noFill/>
          </a:ln>
        </p:spPr>
        <p:style>
          <a:lnRef idx="0"/>
          <a:fillRef idx="0"/>
          <a:effectRef idx="0"/>
          <a:fontRef idx="minor"/>
        </p:style>
        <p:txBody>
          <a:bodyPr lIns="90000" tIns="45000" rIns="90000" bIns="45000" anchor="t">
            <a:spAutoFit/>
          </a:bodyPr>
          <a:p>
            <a:pPr defTabSz="457200">
              <a:lnSpc>
                <a:spcPts val="2001"/>
              </a:lnSpc>
            </a:pPr>
            <a:r>
              <a:rPr lang="en-US" sz="1300" b="1" u="none" strike="noStrike">
                <a:solidFill>
                  <a:srgbClr val="00D4FF"/>
                </a:solidFill>
                <a:effectLst/>
                <a:uFillTx/>
                <a:latin typeface="Calibri"/>
              </a:rPr>
              <a:t>What we built:</a:t>
            </a:r>
            <a:endParaRPr lang="en-GB" sz="13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Full-featured SIP softphone — no audio HW</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24-endpoint REST API + WebSocket events</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G.722 wideband audio, WAV injection</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Per-call pcap + decoded audio recording</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Docker/Podman, cloud-ready, headless</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OpenAPI 3.1 spec included</a:t>
            </a:r>
            <a:endParaRPr lang="en-GB" sz="1200" b="0" u="none" strike="noStrike">
              <a:solidFill>
                <a:srgbClr val="FFFFFF"/>
              </a:solidFill>
              <a:effectLst/>
              <a:uFillTx/>
              <a:latin typeface="Arial"/>
            </a:endParaRPr>
          </a:p>
        </p:txBody>
      </p:sp>
      <p:sp>
        <p:nvSpPr>
          <p:cNvPr id="536" name="TextBox 8"/>
          <p:cNvSpPr/>
          <p:nvPr/>
        </p:nvSpPr>
        <p:spPr>
          <a:xfrm>
            <a:off x="5669280" y="1371600"/>
            <a:ext cx="59428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Quick Reference</a:t>
            </a:r>
            <a:endParaRPr lang="en-GB" sz="1800" b="0" u="none" strike="noStrike">
              <a:solidFill>
                <a:srgbClr val="FFFFFF"/>
              </a:solidFill>
              <a:effectLst/>
              <a:uFillTx/>
              <a:latin typeface="Arial"/>
            </a:endParaRPr>
          </a:p>
        </p:txBody>
      </p:sp>
      <p:sp>
        <p:nvSpPr>
          <p:cNvPr id="537" name="Rectangle 9"/>
          <p:cNvSpPr/>
          <p:nvPr/>
        </p:nvSpPr>
        <p:spPr>
          <a:xfrm>
            <a:off x="5669280" y="182880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38" name="TextBox 10"/>
          <p:cNvSpPr/>
          <p:nvPr/>
        </p:nvSpPr>
        <p:spPr>
          <a:xfrm>
            <a:off x="5669280" y="196596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Web UI</a:t>
            </a:r>
            <a:endParaRPr lang="en-GB" sz="1200" b="0" u="none" strike="noStrike">
              <a:solidFill>
                <a:srgbClr val="FFFFFF"/>
              </a:solidFill>
              <a:effectLst/>
              <a:uFillTx/>
              <a:latin typeface="Arial"/>
            </a:endParaRPr>
          </a:p>
        </p:txBody>
      </p:sp>
      <p:sp>
        <p:nvSpPr>
          <p:cNvPr id="539" name="TextBox 11"/>
          <p:cNvSpPr/>
          <p:nvPr/>
        </p:nvSpPr>
        <p:spPr>
          <a:xfrm>
            <a:off x="7772400" y="196596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http://localhost:3000</a:t>
            </a:r>
            <a:endParaRPr lang="en-GB" sz="1200" b="0" u="none" strike="noStrike">
              <a:solidFill>
                <a:srgbClr val="FFFFFF"/>
              </a:solidFill>
              <a:effectLst/>
              <a:uFillTx/>
              <a:latin typeface="Arial"/>
            </a:endParaRPr>
          </a:p>
        </p:txBody>
      </p:sp>
      <p:sp>
        <p:nvSpPr>
          <p:cNvPr id="540" name="Rectangle 12"/>
          <p:cNvSpPr/>
          <p:nvPr/>
        </p:nvSpPr>
        <p:spPr>
          <a:xfrm>
            <a:off x="5669280" y="240480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1" name="TextBox 13"/>
          <p:cNvSpPr/>
          <p:nvPr/>
        </p:nvSpPr>
        <p:spPr>
          <a:xfrm>
            <a:off x="5669280" y="262440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API Status</a:t>
            </a:r>
            <a:endParaRPr lang="en-GB" sz="1200" b="0" u="none" strike="noStrike">
              <a:solidFill>
                <a:srgbClr val="FFFFFF"/>
              </a:solidFill>
              <a:effectLst/>
              <a:uFillTx/>
              <a:latin typeface="Arial"/>
            </a:endParaRPr>
          </a:p>
        </p:txBody>
      </p:sp>
      <p:sp>
        <p:nvSpPr>
          <p:cNvPr id="542" name="TextBox 14"/>
          <p:cNvSpPr/>
          <p:nvPr/>
        </p:nvSpPr>
        <p:spPr>
          <a:xfrm>
            <a:off x="7772400" y="262440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GET /api/status</a:t>
            </a:r>
            <a:endParaRPr lang="en-GB" sz="1200" b="0" u="none" strike="noStrike">
              <a:solidFill>
                <a:srgbClr val="FFFFFF"/>
              </a:solidFill>
              <a:effectLst/>
              <a:uFillTx/>
              <a:latin typeface="Arial"/>
            </a:endParaRPr>
          </a:p>
        </p:txBody>
      </p:sp>
      <p:sp>
        <p:nvSpPr>
          <p:cNvPr id="543" name="Rectangle 15"/>
          <p:cNvSpPr/>
          <p:nvPr/>
        </p:nvSpPr>
        <p:spPr>
          <a:xfrm>
            <a:off x="5669280" y="306324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4" name="TextBox 16"/>
          <p:cNvSpPr/>
          <p:nvPr/>
        </p:nvSpPr>
        <p:spPr>
          <a:xfrm>
            <a:off x="5669280" y="328284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OpenAPI Spec</a:t>
            </a:r>
            <a:endParaRPr lang="en-GB" sz="1200" b="0" u="none" strike="noStrike">
              <a:solidFill>
                <a:srgbClr val="FFFFFF"/>
              </a:solidFill>
              <a:effectLst/>
              <a:uFillTx/>
              <a:latin typeface="Arial"/>
            </a:endParaRPr>
          </a:p>
        </p:txBody>
      </p:sp>
      <p:sp>
        <p:nvSpPr>
          <p:cNvPr id="545" name="TextBox 17"/>
          <p:cNvSpPr/>
          <p:nvPr/>
        </p:nvSpPr>
        <p:spPr>
          <a:xfrm>
            <a:off x="7772400" y="328284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openapi.json</a:t>
            </a:r>
            <a:endParaRPr lang="en-GB" sz="1200" b="0" u="none" strike="noStrike">
              <a:solidFill>
                <a:srgbClr val="FFFFFF"/>
              </a:solidFill>
              <a:effectLst/>
              <a:uFillTx/>
              <a:latin typeface="Arial"/>
            </a:endParaRPr>
          </a:p>
        </p:txBody>
      </p:sp>
      <p:sp>
        <p:nvSpPr>
          <p:cNvPr id="546" name="Rectangle 18"/>
          <p:cNvSpPr/>
          <p:nvPr/>
        </p:nvSpPr>
        <p:spPr>
          <a:xfrm>
            <a:off x="5669280" y="372168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7" name="TextBox 19"/>
          <p:cNvSpPr/>
          <p:nvPr/>
        </p:nvSpPr>
        <p:spPr>
          <a:xfrm>
            <a:off x="5669280" y="394092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Captures</a:t>
            </a:r>
            <a:endParaRPr lang="en-GB" sz="1200" b="0" u="none" strike="noStrike">
              <a:solidFill>
                <a:srgbClr val="FFFFFF"/>
              </a:solidFill>
              <a:effectLst/>
              <a:uFillTx/>
              <a:latin typeface="Arial"/>
            </a:endParaRPr>
          </a:p>
        </p:txBody>
      </p:sp>
      <p:sp>
        <p:nvSpPr>
          <p:cNvPr id="548" name="TextBox 20"/>
          <p:cNvSpPr/>
          <p:nvPr/>
        </p:nvSpPr>
        <p:spPr>
          <a:xfrm>
            <a:off x="7772400" y="394092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/captures/ volume</a:t>
            </a:r>
            <a:endParaRPr lang="en-GB" sz="1200" b="0" u="none" strike="noStrike">
              <a:solidFill>
                <a:srgbClr val="FFFFFF"/>
              </a:solidFill>
              <a:effectLst/>
              <a:uFillTx/>
              <a:latin typeface="Arial"/>
            </a:endParaRPr>
          </a:p>
        </p:txBody>
      </p:sp>
      <p:sp>
        <p:nvSpPr>
          <p:cNvPr id="549" name="Rectangle 21"/>
          <p:cNvSpPr/>
          <p:nvPr/>
        </p:nvSpPr>
        <p:spPr>
          <a:xfrm>
            <a:off x="5669280" y="438012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0" name="TextBox 22"/>
          <p:cNvSpPr/>
          <p:nvPr/>
        </p:nvSpPr>
        <p:spPr>
          <a:xfrm>
            <a:off x="5669280" y="459936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WAV Files</a:t>
            </a:r>
            <a:endParaRPr lang="en-GB" sz="1200" b="0" u="none" strike="noStrike">
              <a:solidFill>
                <a:srgbClr val="FFFFFF"/>
              </a:solidFill>
              <a:effectLst/>
              <a:uFillTx/>
              <a:latin typeface="Arial"/>
            </a:endParaRPr>
          </a:p>
        </p:txBody>
      </p:sp>
      <p:sp>
        <p:nvSpPr>
          <p:cNvPr id="551" name="TextBox 23"/>
          <p:cNvSpPr/>
          <p:nvPr/>
        </p:nvSpPr>
        <p:spPr>
          <a:xfrm>
            <a:off x="7772400" y="459936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/wavfiles/ volume</a:t>
            </a:r>
            <a:endParaRPr lang="en-GB" sz="1200" b="0" u="none" strike="noStrike">
              <a:solidFill>
                <a:srgbClr val="FFFFFF"/>
              </a:solidFill>
              <a:effectLst/>
              <a:uFillTx/>
              <a:latin typeface="Arial"/>
            </a:endParaRPr>
          </a:p>
        </p:txBody>
      </p:sp>
      <p:sp>
        <p:nvSpPr>
          <p:cNvPr id="552" name="Rectangle 24"/>
          <p:cNvSpPr/>
          <p:nvPr/>
        </p:nvSpPr>
        <p:spPr>
          <a:xfrm>
            <a:off x="5669280" y="503820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3" name="TextBox 25"/>
          <p:cNvSpPr/>
          <p:nvPr/>
        </p:nvSpPr>
        <p:spPr>
          <a:xfrm>
            <a:off x="5669280" y="525780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History</a:t>
            </a:r>
            <a:endParaRPr lang="en-GB" sz="1200" b="0" u="none" strike="noStrike">
              <a:solidFill>
                <a:srgbClr val="FFFFFF"/>
              </a:solidFill>
              <a:effectLst/>
              <a:uFillTx/>
              <a:latin typeface="Arial"/>
            </a:endParaRPr>
          </a:p>
        </p:txBody>
      </p:sp>
      <p:sp>
        <p:nvSpPr>
          <p:cNvPr id="554" name="TextBox 26"/>
          <p:cNvSpPr/>
          <p:nvPr/>
        </p:nvSpPr>
        <p:spPr>
          <a:xfrm>
            <a:off x="7772400" y="525780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/captures/call_history.json</a:t>
            </a:r>
            <a:endParaRPr lang="en-GB" sz="1200" b="0" u="none" strike="noStrike">
              <a:solidFill>
                <a:srgbClr val="FFFFFF"/>
              </a:solidFill>
              <a:effectLst/>
              <a:uFillTx/>
              <a:latin typeface="Arial"/>
            </a:endParaRPr>
          </a:p>
        </p:txBody>
      </p:sp>
      <p:sp>
        <p:nvSpPr>
          <p:cNvPr id="555" name="Rectangle 27"/>
          <p:cNvSpPr/>
          <p:nvPr/>
        </p:nvSpPr>
        <p:spPr>
          <a:xfrm>
            <a:off x="5669280" y="569664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6" name="TextBox 28"/>
          <p:cNvSpPr/>
          <p:nvPr/>
        </p:nvSpPr>
        <p:spPr>
          <a:xfrm>
            <a:off x="5669280" y="6217920"/>
            <a:ext cx="59428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Built with Node.js · JsSIP · Express · pptxgenjs</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57" name="accent"/>
          <p:cNvSpPr/>
          <p:nvPr/>
        </p:nvSpPr>
        <p:spPr>
          <a:xfrm>
            <a:off x="457200" y="0"/>
            <a:ext cx="54360" cy="68576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58" name="appendix_label"/>
          <p:cNvSpPr/>
          <p:nvPr/>
        </p:nvSpPr>
        <p:spPr>
          <a:xfrm>
            <a:off x="685800" y="1371600"/>
            <a:ext cx="1131516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1" u="none" spc="300" strike="noStrike">
                <a:solidFill>
                  <a:srgbClr val="00D4FF"/>
                </a:solidFill>
                <a:effectLst/>
                <a:uFillTx/>
                <a:latin typeface="Calibri"/>
              </a:rPr>
              <a:t>APPENDIX</a:t>
            </a:r>
            <a:endParaRPr lang="en-GB" sz="1200" b="0" u="none" strike="noStrike">
              <a:solidFill>
                <a:srgbClr val="FFFFFF"/>
              </a:solidFill>
              <a:effectLst/>
              <a:uFillTx/>
              <a:latin typeface="Arial"/>
            </a:endParaRPr>
          </a:p>
        </p:txBody>
      </p:sp>
      <p:sp>
        <p:nvSpPr>
          <p:cNvPr id="559" name="heading"/>
          <p:cNvSpPr/>
          <p:nvPr/>
        </p:nvSpPr>
        <p:spPr>
          <a:xfrm>
            <a:off x="685800" y="1828800"/>
            <a:ext cx="11315160" cy="9140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400" b="1" u="none" strike="noStrike">
                <a:solidFill>
                  <a:srgbClr val="FFFFFF"/>
                </a:solidFill>
                <a:effectLst/>
                <a:uFillTx/>
                <a:latin typeface="Calibri Bold"/>
              </a:rPr>
              <a:t>UI Screenshots</a:t>
            </a:r>
            <a:endParaRPr lang="en-GB" sz="4400" b="0" u="none" strike="noStrike">
              <a:solidFill>
                <a:srgbClr val="FFFFFF"/>
              </a:solidFill>
              <a:effectLst/>
              <a:uFillTx/>
              <a:latin typeface="Arial"/>
            </a:endParaRPr>
          </a:p>
        </p:txBody>
      </p:sp>
      <p:sp>
        <p:nvSpPr>
          <p:cNvPr id="560" name="subtitle"/>
          <p:cNvSpPr/>
          <p:nvPr/>
        </p:nvSpPr>
        <p:spPr>
          <a:xfrm>
            <a:off x="685800" y="2743200"/>
            <a:ext cx="822924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600" b="0" u="none" strike="noStrike">
                <a:solidFill>
                  <a:srgbClr val="94A3B8"/>
                </a:solidFill>
                <a:effectLst/>
                <a:uFillTx/>
                <a:latin typeface="Calibri"/>
              </a:rPr>
              <a:t>Web UI walkthrough — Clarity theme softphone interface</a:t>
            </a:r>
            <a:endParaRPr lang="en-GB"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61"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2"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3"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Registration &amp; Call Panel</a:t>
            </a:r>
            <a:endParaRPr lang="en-GB" sz="2000" b="0" u="none" strike="noStrike">
              <a:solidFill>
                <a:srgbClr val="FFFFFF"/>
              </a:solidFill>
              <a:effectLst/>
              <a:uFillTx/>
              <a:latin typeface="Arial"/>
            </a:endParaRPr>
          </a:p>
        </p:txBody>
      </p:sp>
      <p:sp>
        <p:nvSpPr>
          <p:cNvPr id="564"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SIP registration form · locked when registered · call display card · G.722 status</a:t>
            </a:r>
            <a:endParaRPr lang="en-GB" sz="1000" b="0" u="none" strike="noStrike">
              <a:solidFill>
                <a:srgbClr val="FFFFFF"/>
              </a:solidFill>
              <a:effectLst/>
              <a:uFillTx/>
              <a:latin typeface="Arial"/>
            </a:endParaRPr>
          </a:p>
        </p:txBody>
      </p:sp>
      <p:sp>
        <p:nvSpPr>
          <p:cNvPr id="565"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66" name=""/>
          <p:cNvPicPr/>
          <p:nvPr/>
        </p:nvPicPr>
        <p:blipFill>
          <a:blip r:embed="rId1"/>
          <a:stretch/>
        </p:blipFill>
        <p:spPr>
          <a:xfrm>
            <a:off x="1620000" y="900000"/>
            <a:ext cx="3446640" cy="4500000"/>
          </a:xfrm>
          <a:prstGeom prst="rect">
            <a:avLst/>
          </a:prstGeom>
          <a:noFill/>
          <a:ln w="0">
            <a:noFill/>
          </a:ln>
        </p:spPr>
      </p:pic>
      <p:pic>
        <p:nvPicPr>
          <p:cNvPr id="567" name=""/>
          <p:cNvPicPr/>
          <p:nvPr/>
        </p:nvPicPr>
        <p:blipFill>
          <a:blip r:embed="rId2"/>
          <a:stretch/>
        </p:blipFill>
        <p:spPr>
          <a:xfrm>
            <a:off x="5400000" y="900000"/>
            <a:ext cx="5807880" cy="33087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68"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9"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0"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Dialpad  ·  Transfer  ·  Conference</a:t>
            </a:r>
            <a:endParaRPr lang="en-GB" sz="2000" b="0" u="none" strike="noStrike">
              <a:solidFill>
                <a:srgbClr val="FFFFFF"/>
              </a:solidFill>
              <a:effectLst/>
              <a:uFillTx/>
              <a:latin typeface="Arial"/>
            </a:endParaRPr>
          </a:p>
        </p:txBody>
      </p:sp>
      <p:sp>
        <p:nvSpPr>
          <p:cNvPr id="571"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DTMF dialpad · hold/resume · blind/attended transfer · 3-way conference controls</a:t>
            </a:r>
            <a:endParaRPr lang="en-GB" sz="1000" b="0" u="none" strike="noStrike">
              <a:solidFill>
                <a:srgbClr val="FFFFFF"/>
              </a:solidFill>
              <a:effectLst/>
              <a:uFillTx/>
              <a:latin typeface="Arial"/>
            </a:endParaRPr>
          </a:p>
        </p:txBody>
      </p:sp>
      <p:sp>
        <p:nvSpPr>
          <p:cNvPr id="572"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73" name=""/>
          <p:cNvPicPr/>
          <p:nvPr/>
        </p:nvPicPr>
        <p:blipFill>
          <a:blip r:embed="rId1"/>
          <a:stretch/>
        </p:blipFill>
        <p:spPr>
          <a:xfrm>
            <a:off x="898200" y="900000"/>
            <a:ext cx="5761800" cy="4140000"/>
          </a:xfrm>
          <a:prstGeom prst="rect">
            <a:avLst/>
          </a:prstGeom>
          <a:noFill/>
          <a:ln w="0">
            <a:noFill/>
          </a:ln>
        </p:spPr>
      </p:pic>
      <p:pic>
        <p:nvPicPr>
          <p:cNvPr id="574" name=""/>
          <p:cNvPicPr/>
          <p:nvPr/>
        </p:nvPicPr>
        <p:blipFill>
          <a:blip r:embed="rId2"/>
          <a:stretch/>
        </p:blipFill>
        <p:spPr>
          <a:xfrm>
            <a:off x="7380000" y="900000"/>
            <a:ext cx="4491360" cy="1917000"/>
          </a:xfrm>
          <a:prstGeom prst="rect">
            <a:avLst/>
          </a:prstGeom>
          <a:noFill/>
          <a:ln w="0">
            <a:noFill/>
          </a:ln>
        </p:spPr>
      </p:pic>
      <p:pic>
        <p:nvPicPr>
          <p:cNvPr id="575" name=""/>
          <p:cNvPicPr/>
          <p:nvPr/>
        </p:nvPicPr>
        <p:blipFill>
          <a:blip r:embed="rId3"/>
          <a:stretch/>
        </p:blipFill>
        <p:spPr>
          <a:xfrm rot="21594000">
            <a:off x="7382160" y="2946960"/>
            <a:ext cx="3775320" cy="25984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76"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7"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8"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Captures  ·  WAV Files  ·  History</a:t>
            </a:r>
            <a:endParaRPr lang="en-GB" sz="2000" b="0" u="none" strike="noStrike">
              <a:solidFill>
                <a:srgbClr val="FFFFFF"/>
              </a:solidFill>
              <a:effectLst/>
              <a:uFillTx/>
              <a:latin typeface="Arial"/>
            </a:endParaRPr>
          </a:p>
        </p:txBody>
      </p:sp>
      <p:sp>
        <p:nvSpPr>
          <p:cNvPr id="579"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Per-call pcap + WAV download · WAV file upload · call history with duration and status</a:t>
            </a:r>
            <a:endParaRPr lang="en-GB" sz="1000" b="0" u="none" strike="noStrike">
              <a:solidFill>
                <a:srgbClr val="FFFFFF"/>
              </a:solidFill>
              <a:effectLst/>
              <a:uFillTx/>
              <a:latin typeface="Arial"/>
            </a:endParaRPr>
          </a:p>
        </p:txBody>
      </p:sp>
      <p:sp>
        <p:nvSpPr>
          <p:cNvPr id="580"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81" name=""/>
          <p:cNvPicPr/>
          <p:nvPr/>
        </p:nvPicPr>
        <p:blipFill>
          <a:blip r:embed="rId1"/>
          <a:stretch/>
        </p:blipFill>
        <p:spPr>
          <a:xfrm>
            <a:off x="972000" y="900000"/>
            <a:ext cx="2029320" cy="2340000"/>
          </a:xfrm>
          <a:prstGeom prst="rect">
            <a:avLst/>
          </a:prstGeom>
          <a:noFill/>
          <a:ln w="0">
            <a:noFill/>
          </a:ln>
        </p:spPr>
      </p:pic>
      <p:pic>
        <p:nvPicPr>
          <p:cNvPr id="582" name=""/>
          <p:cNvPicPr/>
          <p:nvPr/>
        </p:nvPicPr>
        <p:blipFill>
          <a:blip r:embed="rId2"/>
          <a:stretch/>
        </p:blipFill>
        <p:spPr>
          <a:xfrm>
            <a:off x="8352000" y="900000"/>
            <a:ext cx="2496240" cy="2160000"/>
          </a:xfrm>
          <a:prstGeom prst="rect">
            <a:avLst/>
          </a:prstGeom>
          <a:noFill/>
          <a:ln w="0">
            <a:noFill/>
          </a:ln>
        </p:spPr>
      </p:pic>
      <p:pic>
        <p:nvPicPr>
          <p:cNvPr id="583" name=""/>
          <p:cNvPicPr/>
          <p:nvPr/>
        </p:nvPicPr>
        <p:blipFill>
          <a:blip r:embed="rId3"/>
          <a:stretch/>
        </p:blipFill>
        <p:spPr>
          <a:xfrm>
            <a:off x="741960" y="3420000"/>
            <a:ext cx="2930040" cy="2127960"/>
          </a:xfrm>
          <a:prstGeom prst="rect">
            <a:avLst/>
          </a:prstGeom>
          <a:noFill/>
          <a:ln w="0">
            <a:noFill/>
          </a:ln>
        </p:spPr>
      </p:pic>
      <p:pic>
        <p:nvPicPr>
          <p:cNvPr id="584" name=""/>
          <p:cNvPicPr/>
          <p:nvPr/>
        </p:nvPicPr>
        <p:blipFill>
          <a:blip r:embed="rId4"/>
          <a:stretch/>
        </p:blipFill>
        <p:spPr>
          <a:xfrm>
            <a:off x="8352000" y="3312000"/>
            <a:ext cx="2676600" cy="2222640"/>
          </a:xfrm>
          <a:prstGeom prst="rect">
            <a:avLst/>
          </a:prstGeom>
          <a:noFill/>
          <a:ln w="0">
            <a:noFill/>
          </a:ln>
        </p:spPr>
      </p:pic>
      <p:pic>
        <p:nvPicPr>
          <p:cNvPr id="585" name=""/>
          <p:cNvPicPr/>
          <p:nvPr/>
        </p:nvPicPr>
        <p:blipFill>
          <a:blip r:embed="rId5"/>
          <a:stretch/>
        </p:blipFill>
        <p:spPr>
          <a:xfrm>
            <a:off x="4572000" y="900000"/>
            <a:ext cx="2418120" cy="2117880"/>
          </a:xfrm>
          <a:prstGeom prst="rect">
            <a:avLst/>
          </a:prstGeom>
          <a:noFill/>
          <a:ln w="0">
            <a:noFill/>
          </a:ln>
        </p:spPr>
      </p:pic>
      <p:pic>
        <p:nvPicPr>
          <p:cNvPr id="586" name=""/>
          <p:cNvPicPr/>
          <p:nvPr/>
        </p:nvPicPr>
        <p:blipFill>
          <a:blip r:embed="rId6"/>
          <a:stretch/>
        </p:blipFill>
        <p:spPr>
          <a:xfrm>
            <a:off x="3987720" y="3356640"/>
            <a:ext cx="4184280" cy="21513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87"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88"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89"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System Log  ·  API Reference</a:t>
            </a:r>
            <a:endParaRPr lang="en-GB" sz="2000" b="0" u="none" strike="noStrike">
              <a:solidFill>
                <a:srgbClr val="FFFFFF"/>
              </a:solidFill>
              <a:effectLst/>
              <a:uFillTx/>
              <a:latin typeface="Arial"/>
            </a:endParaRPr>
          </a:p>
        </p:txBody>
      </p:sp>
      <p:sp>
        <p:nvSpPr>
          <p:cNvPr id="590"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Expandable system log with export · full REST API endpoint reference card</a:t>
            </a:r>
            <a:endParaRPr lang="en-GB" sz="1000" b="0" u="none" strike="noStrike">
              <a:solidFill>
                <a:srgbClr val="FFFFFF"/>
              </a:solidFill>
              <a:effectLst/>
              <a:uFillTx/>
              <a:latin typeface="Arial"/>
            </a:endParaRPr>
          </a:p>
        </p:txBody>
      </p:sp>
      <p:sp>
        <p:nvSpPr>
          <p:cNvPr id="591"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92" name=""/>
          <p:cNvPicPr/>
          <p:nvPr/>
        </p:nvPicPr>
        <p:blipFill>
          <a:blip r:embed="rId1"/>
          <a:stretch/>
        </p:blipFill>
        <p:spPr>
          <a:xfrm>
            <a:off x="8280000" y="1060920"/>
            <a:ext cx="1414440" cy="4519080"/>
          </a:xfrm>
          <a:prstGeom prst="rect">
            <a:avLst/>
          </a:prstGeom>
          <a:noFill/>
          <a:ln w="0">
            <a:noFill/>
          </a:ln>
        </p:spPr>
      </p:pic>
      <p:pic>
        <p:nvPicPr>
          <p:cNvPr id="593" name=""/>
          <p:cNvPicPr/>
          <p:nvPr/>
        </p:nvPicPr>
        <p:blipFill>
          <a:blip r:embed="rId2"/>
          <a:stretch/>
        </p:blipFill>
        <p:spPr>
          <a:xfrm>
            <a:off x="900000" y="2027160"/>
            <a:ext cx="7190640" cy="22928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LibreOffice/26.2.2.2$Linux_X86_64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en-GB</dc:language>
  <cp:lastModifiedBy/>
  <dcterms:modified xsi:type="dcterms:W3CDTF">2026-05-13T19:13:11Z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