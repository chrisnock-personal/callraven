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5C28E5E-CD38-4AB6-A8BC-DF4C6E7975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75B717C-7428-4EAA-952F-F7552A3D10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788FFFD-30FA-4B30-9393-08FB69798D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A682507-332B-47BA-88E5-0970FB45AB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2EFD04B-3D08-46BB-B948-C305A9460C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1269CA8-49E1-4BED-BCE7-232636CD54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29621AA-7493-4375-8AB1-05B8484FA0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848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48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07171B-DA99-40F8-954D-0EF1FDAC26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B09857-8335-4114-8BA7-03E6121527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996529-093B-4721-AE9A-DDFFC2464A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605AFCF-6EB8-407F-9EA5-7D2F1A4D09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5027760" cy="68565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5029200" y="0"/>
            <a:ext cx="53280" cy="6856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6640" tIns="45000" rIns="26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6"/>
          <p:cNvSpPr/>
          <p:nvPr/>
        </p:nvSpPr>
        <p:spPr>
          <a:xfrm>
            <a:off x="640080" y="2148840"/>
            <a:ext cx="4113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Experimental *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7"/>
          <p:cNvSpPr/>
          <p:nvPr/>
        </p:nvSpPr>
        <p:spPr>
          <a:xfrm>
            <a:off x="640080" y="2651760"/>
            <a:ext cx="10958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v1.1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8"/>
          <p:cNvSpPr/>
          <p:nvPr/>
        </p:nvSpPr>
        <p:spPr>
          <a:xfrm>
            <a:off x="640080" y="3108960"/>
            <a:ext cx="411336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Open SIP Endpoint built for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engineers and hobbyists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Containerized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No audio hardware required.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Fully headless-capable via REST API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Fully functional Web UI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9"/>
          <p:cNvSpPr/>
          <p:nvPr/>
        </p:nvSpPr>
        <p:spPr>
          <a:xfrm>
            <a:off x="5577840" y="1188720"/>
            <a:ext cx="6216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D4FF"/>
                </a:solidFill>
                <a:effectLst/>
                <a:uFillTx/>
                <a:latin typeface="Calibri Bold"/>
              </a:rPr>
              <a:t>27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5577840" y="1691640"/>
            <a:ext cx="6216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API Endpoints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11"/>
          <p:cNvSpPr/>
          <p:nvPr/>
        </p:nvSpPr>
        <p:spPr>
          <a:xfrm>
            <a:off x="5577840" y="2057400"/>
            <a:ext cx="5942160" cy="7560"/>
          </a:xfrm>
          <a:prstGeom prst="rect">
            <a:avLst/>
          </a:prstGeom>
          <a:solidFill>
            <a:srgbClr val="2E3D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12"/>
          <p:cNvSpPr/>
          <p:nvPr/>
        </p:nvSpPr>
        <p:spPr>
          <a:xfrm>
            <a:off x="5577840" y="2468880"/>
            <a:ext cx="6216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G.722 · PCMU · PCMA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3"/>
          <p:cNvSpPr/>
          <p:nvPr/>
        </p:nvSpPr>
        <p:spPr>
          <a:xfrm>
            <a:off x="5577840" y="2971800"/>
            <a:ext cx="6216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Codecs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14"/>
          <p:cNvSpPr/>
          <p:nvPr/>
        </p:nvSpPr>
        <p:spPr>
          <a:xfrm>
            <a:off x="5577840" y="3337560"/>
            <a:ext cx="5942160" cy="7560"/>
          </a:xfrm>
          <a:prstGeom prst="rect">
            <a:avLst/>
          </a:prstGeom>
          <a:solidFill>
            <a:srgbClr val="2E3D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5"/>
          <p:cNvSpPr/>
          <p:nvPr/>
        </p:nvSpPr>
        <p:spPr>
          <a:xfrm>
            <a:off x="5577840" y="3749040"/>
            <a:ext cx="6216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Docker / Podman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6"/>
          <p:cNvSpPr/>
          <p:nvPr/>
        </p:nvSpPr>
        <p:spPr>
          <a:xfrm>
            <a:off x="5577840" y="4251960"/>
            <a:ext cx="6216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Deployment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7"/>
          <p:cNvSpPr/>
          <p:nvPr/>
        </p:nvSpPr>
        <p:spPr>
          <a:xfrm>
            <a:off x="5577840" y="4617720"/>
            <a:ext cx="5942160" cy="7560"/>
          </a:xfrm>
          <a:prstGeom prst="rect">
            <a:avLst/>
          </a:prstGeom>
          <a:solidFill>
            <a:srgbClr val="2E3D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8"/>
          <p:cNvSpPr/>
          <p:nvPr/>
        </p:nvSpPr>
        <p:spPr>
          <a:xfrm>
            <a:off x="5577840" y="5029200"/>
            <a:ext cx="6216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Pcap , Adhoc Recording, Transcription 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9"/>
          <p:cNvSpPr/>
          <p:nvPr/>
        </p:nvSpPr>
        <p:spPr>
          <a:xfrm>
            <a:off x="5577840" y="5532120"/>
            <a:ext cx="6216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Capture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0"/>
          <p:cNvSpPr/>
          <p:nvPr/>
        </p:nvSpPr>
        <p:spPr>
          <a:xfrm>
            <a:off x="5577840" y="6309360"/>
            <a:ext cx="6216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For Developers &amp; Engineers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1635840" y="325800"/>
            <a:ext cx="1603800" cy="165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548640" y="365760"/>
            <a:ext cx="109713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Problem &amp; Use Cases</a:t>
            </a:r>
            <a:endParaRPr lang="en-GB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548640" y="1051560"/>
            <a:ext cx="10971360" cy="352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548640" y="1280160"/>
            <a:ext cx="50277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D4FF"/>
                </a:solidFill>
                <a:effectLst/>
                <a:uFillTx/>
                <a:latin typeface="Calibri Bold"/>
              </a:rPr>
              <a:t>The Gap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4"/>
          <p:cNvSpPr/>
          <p:nvPr/>
        </p:nvSpPr>
        <p:spPr>
          <a:xfrm>
            <a:off x="548640" y="1874520"/>
            <a:ext cx="53280" cy="27288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6640" tIns="45000" rIns="26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749880" y="1783080"/>
            <a:ext cx="4570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Traditional SIP softphones require audio hardware/virtualised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hardware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6"/>
          <p:cNvSpPr/>
          <p:nvPr/>
        </p:nvSpPr>
        <p:spPr>
          <a:xfrm>
            <a:off x="548640" y="2350080"/>
            <a:ext cx="53280" cy="27288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6640" tIns="45000" rIns="26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749880" y="2258640"/>
            <a:ext cx="4570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Difficult to automate — no headless / API-driven control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8"/>
          <p:cNvSpPr/>
          <p:nvPr/>
        </p:nvSpPr>
        <p:spPr>
          <a:xfrm>
            <a:off x="548640" y="2825640"/>
            <a:ext cx="53280" cy="27288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6640" tIns="45000" rIns="26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749880" y="2734200"/>
            <a:ext cx="4570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No built-in packet capture for SIP/RTP analysis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10"/>
          <p:cNvSpPr/>
          <p:nvPr/>
        </p:nvSpPr>
        <p:spPr>
          <a:xfrm>
            <a:off x="548640" y="3300840"/>
            <a:ext cx="53280" cy="27288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6640" tIns="45000" rIns="26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749880" y="3209400"/>
            <a:ext cx="45705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Difficult to containerise and deploy to cloud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14"/>
          <p:cNvSpPr/>
          <p:nvPr/>
        </p:nvSpPr>
        <p:spPr>
          <a:xfrm>
            <a:off x="5760720" y="1188720"/>
            <a:ext cx="35280" cy="5302080"/>
          </a:xfrm>
          <a:prstGeom prst="rect">
            <a:avLst/>
          </a:prstGeom>
          <a:solidFill>
            <a:srgbClr val="2E3D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640" tIns="45000" rIns="17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5"/>
          <p:cNvSpPr/>
          <p:nvPr/>
        </p:nvSpPr>
        <p:spPr>
          <a:xfrm>
            <a:off x="6035040" y="1280160"/>
            <a:ext cx="57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D4FF"/>
                </a:solidFill>
                <a:effectLst/>
                <a:uFillTx/>
                <a:latin typeface="Calibri Bold"/>
              </a:rPr>
              <a:t>Potential Use Cases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16"/>
          <p:cNvSpPr/>
          <p:nvPr/>
        </p:nvSpPr>
        <p:spPr>
          <a:xfrm>
            <a:off x="6035040" y="1819800"/>
            <a:ext cx="638640" cy="2912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17"/>
          <p:cNvSpPr/>
          <p:nvPr/>
        </p:nvSpPr>
        <p:spPr>
          <a:xfrm>
            <a:off x="6035040" y="1837800"/>
            <a:ext cx="638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TEST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8"/>
          <p:cNvSpPr/>
          <p:nvPr/>
        </p:nvSpPr>
        <p:spPr>
          <a:xfrm>
            <a:off x="6812280" y="1783080"/>
            <a:ext cx="4844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SIP Testing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9"/>
          <p:cNvSpPr/>
          <p:nvPr/>
        </p:nvSpPr>
        <p:spPr>
          <a:xfrm>
            <a:off x="6812280" y="2103120"/>
            <a:ext cx="4844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Automate call flows with REST API - no physical hardware needed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20"/>
          <p:cNvSpPr/>
          <p:nvPr/>
        </p:nvSpPr>
        <p:spPr>
          <a:xfrm>
            <a:off x="6035040" y="2734200"/>
            <a:ext cx="638640" cy="291240"/>
          </a:xfrm>
          <a:prstGeom prst="rect">
            <a:avLst/>
          </a:prstGeom>
          <a:solidFill>
            <a:srgbClr val="00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21"/>
          <p:cNvSpPr/>
          <p:nvPr/>
        </p:nvSpPr>
        <p:spPr>
          <a:xfrm>
            <a:off x="6035040" y="2752200"/>
            <a:ext cx="638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PCAP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2"/>
          <p:cNvSpPr/>
          <p:nvPr/>
        </p:nvSpPr>
        <p:spPr>
          <a:xfrm>
            <a:off x="6812280" y="2697480"/>
            <a:ext cx="4844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Network Analysis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3"/>
          <p:cNvSpPr/>
          <p:nvPr/>
        </p:nvSpPr>
        <p:spPr>
          <a:xfrm>
            <a:off x="6812280" y="3017520"/>
            <a:ext cx="4844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Capture SIP + RTP per call, open in Wireshark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24"/>
          <p:cNvSpPr/>
          <p:nvPr/>
        </p:nvSpPr>
        <p:spPr>
          <a:xfrm>
            <a:off x="6035040" y="3648600"/>
            <a:ext cx="638640" cy="29124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5"/>
          <p:cNvSpPr/>
          <p:nvPr/>
        </p:nvSpPr>
        <p:spPr>
          <a:xfrm>
            <a:off x="6035040" y="3666600"/>
            <a:ext cx="638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CLOUD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6"/>
          <p:cNvSpPr/>
          <p:nvPr/>
        </p:nvSpPr>
        <p:spPr>
          <a:xfrm>
            <a:off x="6812280" y="3611880"/>
            <a:ext cx="4844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Cloud Deployment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7"/>
          <p:cNvSpPr/>
          <p:nvPr/>
        </p:nvSpPr>
        <p:spPr>
          <a:xfrm>
            <a:off x="6812280" y="3931920"/>
            <a:ext cx="4844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Runs headless on any cloud VM, no audio 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hardware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28"/>
          <p:cNvSpPr/>
          <p:nvPr/>
        </p:nvSpPr>
        <p:spPr>
          <a:xfrm>
            <a:off x="6035040" y="4563000"/>
            <a:ext cx="638640" cy="29124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29"/>
          <p:cNvSpPr/>
          <p:nvPr/>
        </p:nvSpPr>
        <p:spPr>
          <a:xfrm>
            <a:off x="6035040" y="4581000"/>
            <a:ext cx="638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CI/CD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0"/>
          <p:cNvSpPr/>
          <p:nvPr/>
        </p:nvSpPr>
        <p:spPr>
          <a:xfrm>
            <a:off x="6812280" y="4526280"/>
            <a:ext cx="4844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CI/CD Integration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1"/>
          <p:cNvSpPr/>
          <p:nvPr/>
        </p:nvSpPr>
        <p:spPr>
          <a:xfrm>
            <a:off x="6812280" y="4846320"/>
            <a:ext cx="4844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Trigger calls, play audio, verify via API in pipelines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32"/>
          <p:cNvSpPr/>
          <p:nvPr/>
        </p:nvSpPr>
        <p:spPr>
          <a:xfrm>
            <a:off x="6035040" y="5477400"/>
            <a:ext cx="638640" cy="2912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33"/>
          <p:cNvSpPr/>
          <p:nvPr/>
        </p:nvSpPr>
        <p:spPr>
          <a:xfrm>
            <a:off x="6035040" y="5495400"/>
            <a:ext cx="638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PHONE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4"/>
          <p:cNvSpPr/>
          <p:nvPr/>
        </p:nvSpPr>
        <p:spPr>
          <a:xfrm>
            <a:off x="6812280" y="5440680"/>
            <a:ext cx="4844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Softphone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5"/>
          <p:cNvSpPr/>
          <p:nvPr/>
        </p:nvSpPr>
        <p:spPr>
          <a:xfrm>
            <a:off x="6812280" y="5760720"/>
            <a:ext cx="4844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Full-featured web UI for engineers/home lab hobbyists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"/>
          <p:cNvSpPr/>
          <p:nvPr/>
        </p:nvSpPr>
        <p:spPr>
          <a:xfrm>
            <a:off x="457200" y="255960"/>
            <a:ext cx="11273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Project Goals</a:t>
            </a:r>
            <a:endParaRPr lang="en-GB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div"/>
          <p:cNvSpPr/>
          <p:nvPr/>
        </p:nvSpPr>
        <p:spPr>
          <a:xfrm>
            <a:off x="457200" y="1005840"/>
            <a:ext cx="11273760" cy="36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h0"/>
          <p:cNvSpPr/>
          <p:nvPr/>
        </p:nvSpPr>
        <p:spPr>
          <a:xfrm>
            <a:off x="457200" y="1298520"/>
            <a:ext cx="5485680" cy="36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b0"/>
          <p:cNvSpPr/>
          <p:nvPr/>
        </p:nvSpPr>
        <p:spPr>
          <a:xfrm>
            <a:off x="457200" y="1334880"/>
            <a:ext cx="5485680" cy="26236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8160" tIns="109800" rIns="109800" bIns="0" anchor="t">
            <a:no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No Hardware Dependencies</a:t>
            </a:r>
            <a:endParaRPr lang="en-GB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Runs anywhere — cloud VM, home server, or CI runner — without audio hardware, tcpdump, or kernel modules.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No sound card or audio device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No tcpdump or raw socket access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Fully headless via REST API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gh1"/>
          <p:cNvSpPr/>
          <p:nvPr/>
        </p:nvSpPr>
        <p:spPr>
          <a:xfrm>
            <a:off x="6309360" y="1298520"/>
            <a:ext cx="5485680" cy="3600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gb1"/>
          <p:cNvSpPr/>
          <p:nvPr/>
        </p:nvSpPr>
        <p:spPr>
          <a:xfrm>
            <a:off x="6309360" y="1334880"/>
            <a:ext cx="5485680" cy="26236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8160" tIns="109800" rIns="109800" bIns="0" anchor="t">
            <a:no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Full Headless Automation</a:t>
            </a:r>
            <a:endParaRPr lang="en-GB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Every feature is reachable through the REST API. Script call flows, test IVR systems, and automate from pipelines.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27-endpoint REST API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OpenAPI 3.1 spec included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WebSocket real-time events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gh2"/>
          <p:cNvSpPr/>
          <p:nvPr/>
        </p:nvSpPr>
        <p:spPr>
          <a:xfrm>
            <a:off x="457200" y="3996000"/>
            <a:ext cx="5485680" cy="360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b2"/>
          <p:cNvSpPr/>
          <p:nvPr/>
        </p:nvSpPr>
        <p:spPr>
          <a:xfrm>
            <a:off x="457200" y="4032360"/>
            <a:ext cx="5485680" cy="26236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8160" tIns="109800" rIns="109800" bIns="0" anchor="t">
            <a:no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Reliability</a:t>
            </a:r>
            <a:endParaRPr lang="en-GB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Built to stay registered and recover automatically. Keepalive pings, IP change detection, and graceful reconnection.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OPTIONS keepalive every 30s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Auto re-register on IP change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Call cleanup on disconnect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h3"/>
          <p:cNvSpPr/>
          <p:nvPr/>
        </p:nvSpPr>
        <p:spPr>
          <a:xfrm>
            <a:off x="6309360" y="3996000"/>
            <a:ext cx="5485680" cy="360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b3"/>
          <p:cNvSpPr/>
          <p:nvPr/>
        </p:nvSpPr>
        <p:spPr>
          <a:xfrm>
            <a:off x="6309360" y="4032360"/>
            <a:ext cx="5485680" cy="26236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8160" tIns="109800" rIns="109800" bIns="0" anchor="t">
            <a:no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Engineer-First Experience</a:t>
            </a:r>
            <a:endParaRPr lang="en-GB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Full SIP dialog in every pcap, live stats in the UI, browser audio relay, dark mode, and mobile-responsive layout.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Full SIP capture: INVITE to BYE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Live RTP stats panel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Dark mode + mobile responsive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"/>
          <p:cNvSpPr/>
          <p:nvPr/>
        </p:nvSpPr>
        <p:spPr>
          <a:xfrm>
            <a:off x="457200" y="274320"/>
            <a:ext cx="11273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What You Can Do</a:t>
            </a:r>
            <a:endParaRPr lang="en-GB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div"/>
          <p:cNvSpPr/>
          <p:nvPr/>
        </p:nvSpPr>
        <p:spPr>
          <a:xfrm>
            <a:off x="457200" y="1005840"/>
            <a:ext cx="11273760" cy="36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ubtitle"/>
          <p:cNvSpPr/>
          <p:nvPr/>
        </p:nvSpPr>
        <p:spPr>
          <a:xfrm>
            <a:off x="457200" y="1097280"/>
            <a:ext cx="11273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Full softphone capability (WiP) — all controllable via REST API or web UI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card_border_5"/>
          <p:cNvSpPr/>
          <p:nvPr/>
        </p:nvSpPr>
        <p:spPr>
          <a:xfrm>
            <a:off x="457200" y="1417320"/>
            <a:ext cx="3565440" cy="36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card_5"/>
          <p:cNvSpPr/>
          <p:nvPr/>
        </p:nvSpPr>
        <p:spPr>
          <a:xfrm>
            <a:off x="457200" y="1454040"/>
            <a:ext cx="3565440" cy="2340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91440" rIns="109800" bIns="9144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Call Control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Make and receive calls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Hold &amp; resume mid-call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Send DTMF tones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Reject unwanted calls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card_border_7"/>
          <p:cNvSpPr/>
          <p:nvPr/>
        </p:nvSpPr>
        <p:spPr>
          <a:xfrm>
            <a:off x="4297680" y="1417320"/>
            <a:ext cx="3565440" cy="360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card_7"/>
          <p:cNvSpPr/>
          <p:nvPr/>
        </p:nvSpPr>
        <p:spPr>
          <a:xfrm>
            <a:off x="4297680" y="1454040"/>
            <a:ext cx="3565440" cy="2340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91440" rIns="109800" bIns="9144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Transfer &amp; Conference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Blind transfer to any extension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Attended transfer — hear first, then bridge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3-way conference calls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Drop conference leg independently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card_border_9"/>
          <p:cNvSpPr/>
          <p:nvPr/>
        </p:nvSpPr>
        <p:spPr>
          <a:xfrm>
            <a:off x="8138160" y="1417320"/>
            <a:ext cx="3565440" cy="360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card_9"/>
          <p:cNvSpPr/>
          <p:nvPr/>
        </p:nvSpPr>
        <p:spPr>
          <a:xfrm>
            <a:off x="8138160" y="1454040"/>
            <a:ext cx="3565440" cy="2340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91440" rIns="109800" bIns="9144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Audio Injection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Upload any WAV file 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Play audio into a live call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Far end hears it as natural call audio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Perfect for hold music, IVR testing, announcements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card_border_11"/>
          <p:cNvSpPr/>
          <p:nvPr/>
        </p:nvSpPr>
        <p:spPr>
          <a:xfrm>
            <a:off x="457200" y="3977640"/>
            <a:ext cx="3565440" cy="3600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card_11"/>
          <p:cNvSpPr/>
          <p:nvPr/>
        </p:nvSpPr>
        <p:spPr>
          <a:xfrm>
            <a:off x="457200" y="4014360"/>
            <a:ext cx="3565440" cy="2340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91440" rIns="109800" bIns="9144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Packet Capture , Record, Transcribe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Automatic per call packet capture (PCAP)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  </a:t>
            </a:r>
            <a:r>
              <a:rPr lang="en-US" sz="12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	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Full SIP + RTP in one file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■   </a:t>
            </a:r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Calibri"/>
              </a:rPr>
              <a:t>Ad</a:t>
            </a:r>
            <a:r>
              <a:rPr lang="en-US" sz="1200" b="0" u="none" strike="noStrike">
                <a:solidFill>
                  <a:srgbClr val="F4F8FF"/>
                </a:solidFill>
                <a:effectLst/>
                <a:uFillTx/>
                <a:latin typeface="Calibri"/>
              </a:rPr>
              <a:t>hoc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  call recording (WAV)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	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Audio decoded to WAV 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■ </a:t>
            </a:r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Calibri"/>
              </a:rPr>
              <a:t>Post call recording transcription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card_border_13"/>
          <p:cNvSpPr/>
          <p:nvPr/>
        </p:nvSpPr>
        <p:spPr>
          <a:xfrm>
            <a:off x="4297680" y="3977640"/>
            <a:ext cx="3565440" cy="36000"/>
          </a:xfrm>
          <a:prstGeom prst="rect">
            <a:avLst/>
          </a:prstGeom>
          <a:solidFill>
            <a:srgbClr val="00D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ard_13"/>
          <p:cNvSpPr/>
          <p:nvPr/>
        </p:nvSpPr>
        <p:spPr>
          <a:xfrm>
            <a:off x="4297680" y="4014360"/>
            <a:ext cx="3565440" cy="2340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91440" rIns="109800" bIns="9144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Live Monitoring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See codec, jitter, packet loss live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RX and TX kbps in real time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Listen to the call in your browser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WebSocket events for every state change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card_border_15"/>
          <p:cNvSpPr/>
          <p:nvPr/>
        </p:nvSpPr>
        <p:spPr>
          <a:xfrm>
            <a:off x="8138160" y="3977640"/>
            <a:ext cx="3565440" cy="36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card_15"/>
          <p:cNvSpPr/>
          <p:nvPr/>
        </p:nvSpPr>
        <p:spPr>
          <a:xfrm>
            <a:off x="8138160" y="4014360"/>
            <a:ext cx="3565440" cy="2340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91440" rIns="109800" bIns="9144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Reliability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Keepalive pings detect PBX issues early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Auto re-register if connection drops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Missed and cancelled calls tracked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Remote hold shown in UI automatically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itle"/>
          <p:cNvSpPr/>
          <p:nvPr/>
        </p:nvSpPr>
        <p:spPr>
          <a:xfrm>
            <a:off x="457200" y="255960"/>
            <a:ext cx="11273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Live Audio &amp; Monitoring</a:t>
            </a:r>
            <a:endParaRPr lang="en-GB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div"/>
          <p:cNvSpPr/>
          <p:nvPr/>
        </p:nvSpPr>
        <p:spPr>
          <a:xfrm>
            <a:off x="457200" y="1005840"/>
            <a:ext cx="11273760" cy="36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ub"/>
          <p:cNvSpPr/>
          <p:nvPr/>
        </p:nvSpPr>
        <p:spPr>
          <a:xfrm>
            <a:off x="457200" y="1078920"/>
            <a:ext cx="11273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Hear the call in your browser and watch quality metrics in real time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aud_border"/>
          <p:cNvSpPr/>
          <p:nvPr/>
        </p:nvSpPr>
        <p:spPr>
          <a:xfrm>
            <a:off x="457200" y="1417320"/>
            <a:ext cx="5394240" cy="36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aud_body"/>
          <p:cNvSpPr/>
          <p:nvPr/>
        </p:nvSpPr>
        <p:spPr>
          <a:xfrm>
            <a:off x="457200" y="1454040"/>
            <a:ext cx="5394240" cy="5028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tIns="128160" rIns="128160" bIns="0" anchor="t">
            <a:no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Listen Live in the Browser</a:t>
            </a:r>
            <a:endParaRPr lang="en-GB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Click Listen during any active call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Inbound audio streams to your browser via WebSocket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Uses the Web Audio API — no plugins or extensions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Works for G.722 wideband and G.711 narrowband calls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On-Demand Recording</a:t>
            </a:r>
            <a:endParaRPr lang="en-GB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Start and stop recording at any point mid-call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WAV file saved instantly — download from the UI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Separate from the automatic per-call pcap capture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vdiv"/>
          <p:cNvSpPr/>
          <p:nvPr/>
        </p:nvSpPr>
        <p:spPr>
          <a:xfrm>
            <a:off x="5989320" y="1417320"/>
            <a:ext cx="36000" cy="502848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tat_border"/>
          <p:cNvSpPr/>
          <p:nvPr/>
        </p:nvSpPr>
        <p:spPr>
          <a:xfrm>
            <a:off x="6217920" y="1417320"/>
            <a:ext cx="5394240" cy="360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tat_body"/>
          <p:cNvSpPr/>
          <p:nvPr/>
        </p:nvSpPr>
        <p:spPr>
          <a:xfrm>
            <a:off x="6217920" y="1454040"/>
            <a:ext cx="5394240" cy="5028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tIns="128160" rIns="128160" bIns="0" anchor="t">
            <a:noAutofit/>
          </a:bodyPr>
          <a:p>
            <a:pPr>
              <a:lnSpc>
                <a:spcPct val="100000"/>
              </a:lnSpc>
            </a:pPr>
            <a:r>
              <a:rPr lang="en-US" sz="14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Live RTP Stats Panel</a:t>
            </a:r>
            <a:endParaRPr lang="en-GB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Appears automatically when a call connects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Updates every 2 seconds via the REST API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What You Can See</a:t>
            </a:r>
            <a:endParaRPr lang="en-GB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Codec — G.722, PCMU, or PCMA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RX and TX packet counts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Packet loss percentage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Jitter in milliseconds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RX and TX bitrate (kbps)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Call duration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" name=""/>
          <p:cNvPicPr/>
          <p:nvPr/>
        </p:nvPicPr>
        <p:blipFill>
          <a:blip r:embed="rId1"/>
          <a:stretch/>
        </p:blipFill>
        <p:spPr>
          <a:xfrm>
            <a:off x="818280" y="4336920"/>
            <a:ext cx="3861360" cy="88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"/>
          <p:cNvPicPr/>
          <p:nvPr/>
        </p:nvPicPr>
        <p:blipFill>
          <a:blip r:embed="rId2"/>
          <a:stretch/>
        </p:blipFill>
        <p:spPr>
          <a:xfrm>
            <a:off x="828000" y="5400000"/>
            <a:ext cx="3851640" cy="88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"/>
          <p:cNvPicPr/>
          <p:nvPr/>
        </p:nvPicPr>
        <p:blipFill>
          <a:blip r:embed="rId3"/>
          <a:stretch/>
        </p:blipFill>
        <p:spPr>
          <a:xfrm>
            <a:off x="1980000" y="3420000"/>
            <a:ext cx="1259640" cy="74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"/>
          <p:cNvPicPr/>
          <p:nvPr/>
        </p:nvPicPr>
        <p:blipFill>
          <a:blip r:embed="rId4"/>
          <a:stretch/>
        </p:blipFill>
        <p:spPr>
          <a:xfrm>
            <a:off x="6840000" y="3714480"/>
            <a:ext cx="4301280" cy="186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"/>
          <p:cNvSpPr/>
          <p:nvPr/>
        </p:nvSpPr>
        <p:spPr>
          <a:xfrm>
            <a:off x="457200" y="255960"/>
            <a:ext cx="11273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Headless &amp; Automation</a:t>
            </a:r>
            <a:endParaRPr lang="en-GB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div"/>
          <p:cNvSpPr/>
          <p:nvPr/>
        </p:nvSpPr>
        <p:spPr>
          <a:xfrm>
            <a:off x="457200" y="1005840"/>
            <a:ext cx="11273760" cy="36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ub"/>
          <p:cNvSpPr/>
          <p:nvPr/>
        </p:nvSpPr>
        <p:spPr>
          <a:xfrm>
            <a:off x="457200" y="1078920"/>
            <a:ext cx="11273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Run without a UI — call the REST API from scripts, pipelines, or any HTTP client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code_border"/>
          <p:cNvSpPr/>
          <p:nvPr/>
        </p:nvSpPr>
        <p:spPr>
          <a:xfrm>
            <a:off x="457200" y="1417320"/>
            <a:ext cx="5760000" cy="36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code_body"/>
          <p:cNvSpPr/>
          <p:nvPr/>
        </p:nvSpPr>
        <p:spPr>
          <a:xfrm>
            <a:off x="457200" y="1454040"/>
            <a:ext cx="5760000" cy="5028480"/>
          </a:xfrm>
          <a:prstGeom prst="rect">
            <a:avLst/>
          </a:pr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tIns="164520" rIns="90000" bIns="0" anchor="t">
            <a:noAutofit/>
          </a:bodyPr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# Register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curl -X POST /api/register \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F0F4FF"/>
                </a:solidFill>
                <a:effectLst/>
                <a:uFillTx/>
                <a:latin typeface="Consolas"/>
              </a:rPr>
              <a:t>  -d '{"server":"pbx","username":"1001",...}'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onsolas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# Make a call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curl -X POST /api/call \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F0F4FF"/>
                </a:solidFill>
                <a:effectLst/>
                <a:uFillTx/>
                <a:latin typeface="Consolas"/>
              </a:rPr>
              <a:t>  -d '{"target":"1002"}'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onsolas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# Play audio into the call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curl -X POST /api/play \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F0F4FF"/>
                </a:solidFill>
                <a:effectLst/>
                <a:uFillTx/>
                <a:latin typeface="Consolas"/>
              </a:rPr>
              <a:t>  -d '{"filename":"hold-music.g722"}'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onsolas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# Hang up + download pcap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curl -X POST /api/hangup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curl -O /captures/call_*.pcap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vdiv"/>
          <p:cNvSpPr/>
          <p:nvPr/>
        </p:nvSpPr>
        <p:spPr>
          <a:xfrm>
            <a:off x="6400800" y="1417320"/>
            <a:ext cx="36000" cy="502848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ight_border"/>
          <p:cNvSpPr/>
          <p:nvPr/>
        </p:nvSpPr>
        <p:spPr>
          <a:xfrm>
            <a:off x="6675120" y="1417320"/>
            <a:ext cx="4937040" cy="3600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ight_body"/>
          <p:cNvSpPr/>
          <p:nvPr/>
        </p:nvSpPr>
        <p:spPr>
          <a:xfrm>
            <a:off x="6675120" y="1454040"/>
            <a:ext cx="4937040" cy="5028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tIns="128160" rIns="12816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Deployment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Docker or Podman — single compose command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network_mode: host keeps SIP/RTP routing simple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Captures volume persists across restarts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No audio hardware, no special kernel modules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Use Cases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SIP testing — automate call flows in CI/CD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IVR testing — play prompts, verify responses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Network analysis — pcap every call automatically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</a:rPr>
              <a:t>●  </a:t>
            </a:r>
            <a:r>
              <a:rPr lang="en-US" sz="11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Cloud deployment — any Linux VM, any provider</a:t>
            </a:r>
            <a:endParaRPr lang="en-GB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Quick Start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podman-compose up -d --build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"/>
          <p:cNvPicPr/>
          <p:nvPr/>
        </p:nvPicPr>
        <p:blipFill>
          <a:blip r:embed="rId1"/>
          <a:stretch/>
        </p:blipFill>
        <p:spPr>
          <a:xfrm>
            <a:off x="802440" y="3960000"/>
            <a:ext cx="4597200" cy="208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"/>
          <p:cNvPicPr/>
          <p:nvPr/>
        </p:nvPicPr>
        <p:blipFill>
          <a:blip r:embed="rId2"/>
          <a:stretch/>
        </p:blipFill>
        <p:spPr>
          <a:xfrm>
            <a:off x="9132480" y="3960000"/>
            <a:ext cx="2207160" cy="217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"/>
          <p:cNvSpPr/>
          <p:nvPr/>
        </p:nvSpPr>
        <p:spPr>
          <a:xfrm>
            <a:off x="457200" y="274320"/>
            <a:ext cx="11273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Packet Capture &amp; Audio Recording</a:t>
            </a:r>
            <a:endParaRPr lang="en-GB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div"/>
          <p:cNvSpPr/>
          <p:nvPr/>
        </p:nvSpPr>
        <p:spPr>
          <a:xfrm>
            <a:off x="457200" y="1005840"/>
            <a:ext cx="11273760" cy="36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ubtitle"/>
          <p:cNvSpPr/>
          <p:nvPr/>
        </p:nvSpPr>
        <p:spPr>
          <a:xfrm>
            <a:off x="457200" y="1097280"/>
            <a:ext cx="11273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Every call automatically saved — no configuration needed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card_border_5"/>
          <p:cNvSpPr/>
          <p:nvPr/>
        </p:nvSpPr>
        <p:spPr>
          <a:xfrm>
            <a:off x="457200" y="1280160"/>
            <a:ext cx="5394240" cy="36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card_5"/>
          <p:cNvSpPr/>
          <p:nvPr/>
        </p:nvSpPr>
        <p:spPr>
          <a:xfrm>
            <a:off x="457200" y="1316880"/>
            <a:ext cx="5394240" cy="499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91440" rIns="109800" bIns="9144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Per-Call .pcap Capture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Opens in Wireshark 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Full SIP dialog: INVITE, 100, 180, 200, ACK, BYE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RTP media packets alongside signalling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Use Telephony → VoIP Calls in Wireshark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Filter by 'sip' to see just the dialog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Named with timestamp and call ID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Download via UI button or REST API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div"/>
          <p:cNvSpPr/>
          <p:nvPr/>
        </p:nvSpPr>
        <p:spPr>
          <a:xfrm>
            <a:off x="6080760" y="1280160"/>
            <a:ext cx="36000" cy="502848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card_border_8"/>
          <p:cNvSpPr/>
          <p:nvPr/>
        </p:nvSpPr>
        <p:spPr>
          <a:xfrm>
            <a:off x="6309360" y="1280160"/>
            <a:ext cx="5394240" cy="360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card_8"/>
          <p:cNvSpPr/>
          <p:nvPr/>
        </p:nvSpPr>
        <p:spPr>
          <a:xfrm>
            <a:off x="6309360" y="1316880"/>
            <a:ext cx="5394240" cy="49917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tIns="91440" rIns="109800" bIns="9144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Audio Recording (.wav)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Automatically decoded from the call's RTP stream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Supports G.722 wideband and G.711 narrowband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Saved as a standard WAV file — plays in any player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On-demand recording: start and stop mid-call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Linked to matching call log/pcap in the UI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■  </a:t>
            </a: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Download via UI or REST API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"/>
          <p:cNvPicPr/>
          <p:nvPr/>
        </p:nvPicPr>
        <p:blipFill>
          <a:blip r:embed="rId1"/>
          <a:stretch/>
        </p:blipFill>
        <p:spPr>
          <a:xfrm>
            <a:off x="900000" y="3420000"/>
            <a:ext cx="4319640" cy="12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"/>
          <p:cNvPicPr/>
          <p:nvPr/>
        </p:nvPicPr>
        <p:blipFill>
          <a:blip r:embed="rId2"/>
          <a:stretch/>
        </p:blipFill>
        <p:spPr>
          <a:xfrm>
            <a:off x="900000" y="4828680"/>
            <a:ext cx="4319640" cy="110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"/>
          <p:cNvPicPr/>
          <p:nvPr/>
        </p:nvPicPr>
        <p:blipFill>
          <a:blip r:embed="rId3"/>
          <a:stretch/>
        </p:blipFill>
        <p:spPr>
          <a:xfrm>
            <a:off x="10080000" y="2396880"/>
            <a:ext cx="1374120" cy="372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"/>
          <p:cNvPicPr/>
          <p:nvPr/>
        </p:nvPicPr>
        <p:blipFill>
          <a:blip r:embed="rId4"/>
          <a:stretch/>
        </p:blipFill>
        <p:spPr>
          <a:xfrm>
            <a:off x="7362000" y="3424320"/>
            <a:ext cx="1818000" cy="215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"/>
          <p:cNvSpPr/>
          <p:nvPr/>
        </p:nvSpPr>
        <p:spPr>
          <a:xfrm>
            <a:off x="548640" y="274320"/>
            <a:ext cx="109713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Web UI</a:t>
            </a:r>
            <a:endParaRPr lang="en-GB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2"/>
          <p:cNvSpPr/>
          <p:nvPr/>
        </p:nvSpPr>
        <p:spPr>
          <a:xfrm>
            <a:off x="548640" y="960120"/>
            <a:ext cx="10971360" cy="352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3"/>
          <p:cNvSpPr/>
          <p:nvPr/>
        </p:nvSpPr>
        <p:spPr>
          <a:xfrm>
            <a:off x="277200" y="1188720"/>
            <a:ext cx="2422440" cy="4100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387000" y="1252800"/>
            <a:ext cx="2924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Registration Panel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5"/>
          <p:cNvSpPr/>
          <p:nvPr/>
        </p:nvSpPr>
        <p:spPr>
          <a:xfrm rot="13200">
            <a:off x="267840" y="1614600"/>
            <a:ext cx="2422440" cy="478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6"/>
          <p:cNvSpPr/>
          <p:nvPr/>
        </p:nvSpPr>
        <p:spPr>
          <a:xfrm>
            <a:off x="387000" y="1856160"/>
            <a:ext cx="44280" cy="227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533160" y="1737360"/>
            <a:ext cx="27601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SIP server, port, WS port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8"/>
          <p:cNvSpPr/>
          <p:nvPr/>
        </p:nvSpPr>
        <p:spPr>
          <a:xfrm>
            <a:off x="387000" y="2569320"/>
            <a:ext cx="44280" cy="227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9"/>
          <p:cNvSpPr/>
          <p:nvPr/>
        </p:nvSpPr>
        <p:spPr>
          <a:xfrm>
            <a:off x="533160" y="2450520"/>
            <a:ext cx="27601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Transport: UDP / TLS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0"/>
          <p:cNvSpPr/>
          <p:nvPr/>
        </p:nvSpPr>
        <p:spPr>
          <a:xfrm>
            <a:off x="387000" y="3282840"/>
            <a:ext cx="44280" cy="227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1"/>
          <p:cNvSpPr/>
          <p:nvPr/>
        </p:nvSpPr>
        <p:spPr>
          <a:xfrm>
            <a:off x="533160" y="3163680"/>
            <a:ext cx="27601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Username, password, display name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12"/>
          <p:cNvSpPr/>
          <p:nvPr/>
        </p:nvSpPr>
        <p:spPr>
          <a:xfrm>
            <a:off x="387000" y="3996000"/>
            <a:ext cx="44280" cy="227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13"/>
          <p:cNvSpPr/>
          <p:nvPr/>
        </p:nvSpPr>
        <p:spPr>
          <a:xfrm>
            <a:off x="533160" y="3877200"/>
            <a:ext cx="27601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Locks form when registered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14"/>
          <p:cNvSpPr/>
          <p:nvPr/>
        </p:nvSpPr>
        <p:spPr>
          <a:xfrm>
            <a:off x="387000" y="4709160"/>
            <a:ext cx="44280" cy="227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15"/>
          <p:cNvSpPr/>
          <p:nvPr/>
        </p:nvSpPr>
        <p:spPr>
          <a:xfrm>
            <a:off x="533160" y="4590360"/>
            <a:ext cx="27601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Populates from API state on reload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16"/>
          <p:cNvSpPr/>
          <p:nvPr/>
        </p:nvSpPr>
        <p:spPr>
          <a:xfrm>
            <a:off x="387000" y="5422320"/>
            <a:ext cx="44280" cy="227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17"/>
          <p:cNvSpPr/>
          <p:nvPr/>
        </p:nvSpPr>
        <p:spPr>
          <a:xfrm>
            <a:off x="533160" y="5303520"/>
            <a:ext cx="27601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Full API endpoint reference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8"/>
          <p:cNvSpPr/>
          <p:nvPr/>
        </p:nvSpPr>
        <p:spPr>
          <a:xfrm>
            <a:off x="2849040" y="1188720"/>
            <a:ext cx="2370600" cy="4100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9"/>
          <p:cNvSpPr/>
          <p:nvPr/>
        </p:nvSpPr>
        <p:spPr>
          <a:xfrm>
            <a:off x="3678840" y="1252800"/>
            <a:ext cx="44791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Softphone Panel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20"/>
          <p:cNvSpPr/>
          <p:nvPr/>
        </p:nvSpPr>
        <p:spPr>
          <a:xfrm>
            <a:off x="2849040" y="1600200"/>
            <a:ext cx="2370600" cy="4799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21"/>
          <p:cNvSpPr/>
          <p:nvPr/>
        </p:nvSpPr>
        <p:spPr>
          <a:xfrm>
            <a:off x="2958840" y="1856160"/>
            <a:ext cx="44280" cy="2271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2"/>
          <p:cNvSpPr/>
          <p:nvPr/>
        </p:nvSpPr>
        <p:spPr>
          <a:xfrm>
            <a:off x="3065040" y="1737360"/>
            <a:ext cx="4314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Live call display card (blue gradient)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23"/>
          <p:cNvSpPr/>
          <p:nvPr/>
        </p:nvSpPr>
        <p:spPr>
          <a:xfrm>
            <a:off x="2958840" y="2569320"/>
            <a:ext cx="44280" cy="2271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24"/>
          <p:cNvSpPr/>
          <p:nvPr/>
        </p:nvSpPr>
        <p:spPr>
          <a:xfrm>
            <a:off x="3065040" y="2520000"/>
            <a:ext cx="4314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DTMF dialpad (12 keys)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25"/>
          <p:cNvSpPr/>
          <p:nvPr/>
        </p:nvSpPr>
        <p:spPr>
          <a:xfrm>
            <a:off x="2958840" y="3282840"/>
            <a:ext cx="44280" cy="2271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26"/>
          <p:cNvSpPr/>
          <p:nvPr/>
        </p:nvSpPr>
        <p:spPr>
          <a:xfrm>
            <a:off x="3060000" y="3240000"/>
            <a:ext cx="4314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Hold / Resume controls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27"/>
          <p:cNvSpPr/>
          <p:nvPr/>
        </p:nvSpPr>
        <p:spPr>
          <a:xfrm>
            <a:off x="2958840" y="3996000"/>
            <a:ext cx="44280" cy="2271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28"/>
          <p:cNvSpPr/>
          <p:nvPr/>
        </p:nvSpPr>
        <p:spPr>
          <a:xfrm>
            <a:off x="3065040" y="3960000"/>
            <a:ext cx="4314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Blind + attended transfer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29"/>
          <p:cNvSpPr/>
          <p:nvPr/>
        </p:nvSpPr>
        <p:spPr>
          <a:xfrm>
            <a:off x="2958840" y="4709160"/>
            <a:ext cx="44280" cy="2271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30"/>
          <p:cNvSpPr/>
          <p:nvPr/>
        </p:nvSpPr>
        <p:spPr>
          <a:xfrm>
            <a:off x="3065040" y="4590360"/>
            <a:ext cx="4314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3-way conference with drop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31"/>
          <p:cNvSpPr/>
          <p:nvPr/>
        </p:nvSpPr>
        <p:spPr>
          <a:xfrm>
            <a:off x="2958840" y="5422320"/>
            <a:ext cx="44280" cy="2271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32"/>
          <p:cNvSpPr/>
          <p:nvPr/>
        </p:nvSpPr>
        <p:spPr>
          <a:xfrm>
            <a:off x="3065040" y="5303520"/>
            <a:ext cx="4314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WAV file selector + playback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33"/>
          <p:cNvSpPr/>
          <p:nvPr/>
        </p:nvSpPr>
        <p:spPr>
          <a:xfrm>
            <a:off x="5319360" y="1188720"/>
            <a:ext cx="2384280" cy="41004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34"/>
          <p:cNvSpPr/>
          <p:nvPr/>
        </p:nvSpPr>
        <p:spPr>
          <a:xfrm>
            <a:off x="5429160" y="1252800"/>
            <a:ext cx="3107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Right Panel (Tabs)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35"/>
          <p:cNvSpPr/>
          <p:nvPr/>
        </p:nvSpPr>
        <p:spPr>
          <a:xfrm>
            <a:off x="5319360" y="1600200"/>
            <a:ext cx="2384280" cy="4799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36"/>
          <p:cNvSpPr/>
          <p:nvPr/>
        </p:nvSpPr>
        <p:spPr>
          <a:xfrm>
            <a:off x="5429160" y="1856160"/>
            <a:ext cx="44280" cy="2271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37"/>
          <p:cNvSpPr/>
          <p:nvPr/>
        </p:nvSpPr>
        <p:spPr>
          <a:xfrm>
            <a:off x="5575320" y="1737360"/>
            <a:ext cx="2943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Captures: ↓ PCAP · ↓ WAV per call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38"/>
          <p:cNvSpPr/>
          <p:nvPr/>
        </p:nvSpPr>
        <p:spPr>
          <a:xfrm>
            <a:off x="5429160" y="2569320"/>
            <a:ext cx="44280" cy="2271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39"/>
          <p:cNvSpPr/>
          <p:nvPr/>
        </p:nvSpPr>
        <p:spPr>
          <a:xfrm>
            <a:off x="5575320" y="2450520"/>
            <a:ext cx="2943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WAV Files: upload · play · delete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40"/>
          <p:cNvSpPr/>
          <p:nvPr/>
        </p:nvSpPr>
        <p:spPr>
          <a:xfrm>
            <a:off x="5429160" y="3282840"/>
            <a:ext cx="44280" cy="2271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41"/>
          <p:cNvSpPr/>
          <p:nvPr/>
        </p:nvSpPr>
        <p:spPr>
          <a:xfrm>
            <a:off x="5575320" y="3163680"/>
            <a:ext cx="2943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History: direction, target, duration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42"/>
          <p:cNvSpPr/>
          <p:nvPr/>
        </p:nvSpPr>
        <p:spPr>
          <a:xfrm>
            <a:off x="5593680" y="3877200"/>
            <a:ext cx="29246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status, timestamp, ↓ pcap link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43"/>
          <p:cNvSpPr/>
          <p:nvPr/>
        </p:nvSpPr>
        <p:spPr>
          <a:xfrm>
            <a:off x="5429160" y="4709160"/>
            <a:ext cx="44280" cy="2271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44"/>
          <p:cNvSpPr/>
          <p:nvPr/>
        </p:nvSpPr>
        <p:spPr>
          <a:xfrm>
            <a:off x="5575320" y="4590360"/>
            <a:ext cx="2943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CSV export · Clear history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45"/>
          <p:cNvSpPr/>
          <p:nvPr/>
        </p:nvSpPr>
        <p:spPr>
          <a:xfrm>
            <a:off x="5429160" y="5422320"/>
            <a:ext cx="44280" cy="2271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320" tIns="45000" rIns="22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46"/>
          <p:cNvSpPr/>
          <p:nvPr/>
        </p:nvSpPr>
        <p:spPr>
          <a:xfrm>
            <a:off x="5575320" y="5303520"/>
            <a:ext cx="2943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Collapsible log panel + export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47"/>
          <p:cNvSpPr/>
          <p:nvPr/>
        </p:nvSpPr>
        <p:spPr>
          <a:xfrm>
            <a:off x="277200" y="6446520"/>
            <a:ext cx="11602440" cy="318600"/>
          </a:xfrm>
          <a:prstGeom prst="rect">
            <a:avLst/>
          </a:prstGeom>
          <a:solidFill>
            <a:srgbClr val="0D23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48"/>
          <p:cNvSpPr/>
          <p:nvPr/>
        </p:nvSpPr>
        <p:spPr>
          <a:xfrm>
            <a:off x="460080" y="6492240"/>
            <a:ext cx="108799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Theme: Clarity  —  DM Sans + DM Mono  ·  White card surfaces  ·  Blue/Green/Amber status system  ·  Collapsible log with unread count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"/>
          <p:cNvPicPr/>
          <p:nvPr/>
        </p:nvPicPr>
        <p:blipFill>
          <a:blip r:embed="rId1"/>
          <a:stretch/>
        </p:blipFill>
        <p:spPr>
          <a:xfrm>
            <a:off x="7920000" y="1186560"/>
            <a:ext cx="3959640" cy="511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itle"/>
          <p:cNvSpPr/>
          <p:nvPr/>
        </p:nvSpPr>
        <p:spPr>
          <a:xfrm>
            <a:off x="457200" y="274680"/>
            <a:ext cx="8799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What's New in v1.1</a:t>
            </a:r>
            <a:endParaRPr lang="en-GB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badge"/>
          <p:cNvSpPr/>
          <p:nvPr/>
        </p:nvSpPr>
        <p:spPr>
          <a:xfrm>
            <a:off x="9601200" y="228600"/>
            <a:ext cx="2742480" cy="34236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v1.0 to v1.1  |  15 new features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div"/>
          <p:cNvSpPr/>
          <p:nvPr/>
        </p:nvSpPr>
        <p:spPr>
          <a:xfrm>
            <a:off x="457200" y="1028880"/>
            <a:ext cx="11886480" cy="3744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h1"/>
          <p:cNvSpPr/>
          <p:nvPr/>
        </p:nvSpPr>
        <p:spPr>
          <a:xfrm>
            <a:off x="457200" y="1143000"/>
            <a:ext cx="36568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Audio &amp; Media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b1"/>
          <p:cNvSpPr/>
          <p:nvPr/>
        </p:nvSpPr>
        <p:spPr>
          <a:xfrm>
            <a:off x="457200" y="1523880"/>
            <a:ext cx="3656880" cy="38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Live audio relay to browser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ws://host:3000/audio + Web Audio API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On-demand call recording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POST /api/record/start|stop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Live RTP stats panel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Codec, jitter, loss%, RX/TX kbps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Browser notifications + ringtone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On incoming call when tab unfocused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h2"/>
          <p:cNvSpPr/>
          <p:nvPr/>
        </p:nvSpPr>
        <p:spPr>
          <a:xfrm>
            <a:off x="4343400" y="1143000"/>
            <a:ext cx="36568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Call Handling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b2"/>
          <p:cNvSpPr/>
          <p:nvPr/>
        </p:nvSpPr>
        <p:spPr>
          <a:xfrm>
            <a:off x="4343400" y="1523880"/>
            <a:ext cx="3656880" cy="38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Missed call detection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History: missed / cancelled status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CANCEL support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Pre-answer hangup sends CANCEL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Remote hold detection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a=sendonly re-INVITE shown in UI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Full SIP capture in pcap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INVITE/100/180/200/ACK/BYE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h3"/>
          <p:cNvSpPr/>
          <p:nvPr/>
        </p:nvSpPr>
        <p:spPr>
          <a:xfrm>
            <a:off x="8229600" y="1143000"/>
            <a:ext cx="41140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UI &amp; Reliability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b3"/>
          <p:cNvSpPr/>
          <p:nvPr/>
        </p:nvSpPr>
        <p:spPr>
          <a:xfrm>
            <a:off x="8229600" y="1523880"/>
            <a:ext cx="4114080" cy="38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Dark / light mode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Toggle persisted to localStorage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Mobile responsive layout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Breakpoints at 1100px and 768px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OPTIONS keepalive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30s ping, auto re-register on fail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" b="0" u="none" strike="noStrike">
                <a:solidFill>
                  <a:srgbClr val="061A3C"/>
                </a:solidFill>
                <a:effectLst/>
                <a:uFillTx/>
                <a:latin typeface="Calibri"/>
              </a:rPr>
              <a:t> </a:t>
            </a:r>
            <a:endParaRPr lang="en-GB" sz="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Graceful WS reconnection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Call cleanup + auto-reconnect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0" y="0"/>
            <a:ext cx="5027760" cy="68565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2"/>
          <p:cNvSpPr/>
          <p:nvPr/>
        </p:nvSpPr>
        <p:spPr>
          <a:xfrm>
            <a:off x="5029200" y="0"/>
            <a:ext cx="53280" cy="6856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6640" tIns="45000" rIns="26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3"/>
          <p:cNvSpPr/>
          <p:nvPr/>
        </p:nvSpPr>
        <p:spPr>
          <a:xfrm>
            <a:off x="640080" y="1554480"/>
            <a:ext cx="10044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SIP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4"/>
          <p:cNvSpPr/>
          <p:nvPr/>
        </p:nvSpPr>
        <p:spPr>
          <a:xfrm>
            <a:off x="640080" y="1554480"/>
            <a:ext cx="1004400" cy="455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5"/>
          <p:cNvSpPr/>
          <p:nvPr/>
        </p:nvSpPr>
        <p:spPr>
          <a:xfrm>
            <a:off x="1783080" y="1554480"/>
            <a:ext cx="29246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Endpoint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6"/>
          <p:cNvSpPr/>
          <p:nvPr/>
        </p:nvSpPr>
        <p:spPr>
          <a:xfrm>
            <a:off x="640080" y="2176200"/>
            <a:ext cx="41133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Containerized SIP Softphone</a:t>
            </a:r>
            <a:endParaRPr lang="en-GB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7"/>
          <p:cNvSpPr/>
          <p:nvPr/>
        </p:nvSpPr>
        <p:spPr>
          <a:xfrm>
            <a:off x="640080" y="2834640"/>
            <a:ext cx="4113360" cy="31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001"/>
              </a:lnSpc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Calibri"/>
              </a:rPr>
              <a:t>What we built: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001"/>
              </a:lnSpc>
            </a:pP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Full-featured SIP softphone — no audio HW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001"/>
              </a:lnSpc>
            </a:pP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27-endpoint REST API + WebSocket events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001"/>
              </a:lnSpc>
            </a:pP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G.722 wideband audio, WAV injection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001"/>
              </a:lnSpc>
            </a:pP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Per-call pcap + decoded audio recording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001"/>
              </a:lnSpc>
            </a:pP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Docker/Podman, cloud-ready, headless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001"/>
              </a:lnSpc>
            </a:pPr>
            <a:r>
              <a:rPr lang="en-US" sz="1200" b="0" u="none" strike="noStrike">
                <a:solidFill>
                  <a:srgbClr val="F0F4FF"/>
                </a:solidFill>
                <a:effectLst/>
                <a:uFillTx/>
                <a:latin typeface="Calibri"/>
              </a:rPr>
              <a:t>OpenAPI 3.1 spec included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8"/>
          <p:cNvSpPr/>
          <p:nvPr/>
        </p:nvSpPr>
        <p:spPr>
          <a:xfrm>
            <a:off x="5669280" y="1371600"/>
            <a:ext cx="5942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 Bold"/>
              </a:rPr>
              <a:t>Quick Reference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9"/>
          <p:cNvSpPr/>
          <p:nvPr/>
        </p:nvSpPr>
        <p:spPr>
          <a:xfrm>
            <a:off x="5669280" y="1828800"/>
            <a:ext cx="5942160" cy="7560"/>
          </a:xfrm>
          <a:prstGeom prst="rect">
            <a:avLst/>
          </a:prstGeom>
          <a:solidFill>
            <a:srgbClr val="2E3D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10"/>
          <p:cNvSpPr/>
          <p:nvPr/>
        </p:nvSpPr>
        <p:spPr>
          <a:xfrm>
            <a:off x="5669280" y="196596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Web UI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1"/>
          <p:cNvSpPr/>
          <p:nvPr/>
        </p:nvSpPr>
        <p:spPr>
          <a:xfrm>
            <a:off x="7772400" y="196596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http://localhost:3000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12"/>
          <p:cNvSpPr/>
          <p:nvPr/>
        </p:nvSpPr>
        <p:spPr>
          <a:xfrm>
            <a:off x="5669280" y="2404800"/>
            <a:ext cx="5942160" cy="7560"/>
          </a:xfrm>
          <a:prstGeom prst="rect">
            <a:avLst/>
          </a:prstGeom>
          <a:solidFill>
            <a:srgbClr val="1E2D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13"/>
          <p:cNvSpPr/>
          <p:nvPr/>
        </p:nvSpPr>
        <p:spPr>
          <a:xfrm>
            <a:off x="5669280" y="262440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API Status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4"/>
          <p:cNvSpPr/>
          <p:nvPr/>
        </p:nvSpPr>
        <p:spPr>
          <a:xfrm>
            <a:off x="7772400" y="262440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GET /api/status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15"/>
          <p:cNvSpPr/>
          <p:nvPr/>
        </p:nvSpPr>
        <p:spPr>
          <a:xfrm>
            <a:off x="5669280" y="3063240"/>
            <a:ext cx="5942160" cy="7560"/>
          </a:xfrm>
          <a:prstGeom prst="rect">
            <a:avLst/>
          </a:prstGeom>
          <a:solidFill>
            <a:srgbClr val="1E2D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6"/>
          <p:cNvSpPr/>
          <p:nvPr/>
        </p:nvSpPr>
        <p:spPr>
          <a:xfrm>
            <a:off x="5669280" y="328284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OpenAPI Spec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7"/>
          <p:cNvSpPr/>
          <p:nvPr/>
        </p:nvSpPr>
        <p:spPr>
          <a:xfrm>
            <a:off x="7772400" y="328284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openapi.json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18"/>
          <p:cNvSpPr/>
          <p:nvPr/>
        </p:nvSpPr>
        <p:spPr>
          <a:xfrm>
            <a:off x="5669280" y="3721680"/>
            <a:ext cx="5942160" cy="7560"/>
          </a:xfrm>
          <a:prstGeom prst="rect">
            <a:avLst/>
          </a:prstGeom>
          <a:solidFill>
            <a:srgbClr val="1E2D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19"/>
          <p:cNvSpPr/>
          <p:nvPr/>
        </p:nvSpPr>
        <p:spPr>
          <a:xfrm>
            <a:off x="5669280" y="394092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Captures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20"/>
          <p:cNvSpPr/>
          <p:nvPr/>
        </p:nvSpPr>
        <p:spPr>
          <a:xfrm>
            <a:off x="7772400" y="394092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/captures/ volume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21"/>
          <p:cNvSpPr/>
          <p:nvPr/>
        </p:nvSpPr>
        <p:spPr>
          <a:xfrm>
            <a:off x="5669280" y="4380120"/>
            <a:ext cx="5942160" cy="7560"/>
          </a:xfrm>
          <a:prstGeom prst="rect">
            <a:avLst/>
          </a:prstGeom>
          <a:solidFill>
            <a:srgbClr val="1E2D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22"/>
          <p:cNvSpPr/>
          <p:nvPr/>
        </p:nvSpPr>
        <p:spPr>
          <a:xfrm>
            <a:off x="5669280" y="459936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WAV Files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3"/>
          <p:cNvSpPr/>
          <p:nvPr/>
        </p:nvSpPr>
        <p:spPr>
          <a:xfrm>
            <a:off x="7772400" y="459936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/wavfiles/ volume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24"/>
          <p:cNvSpPr/>
          <p:nvPr/>
        </p:nvSpPr>
        <p:spPr>
          <a:xfrm>
            <a:off x="5669280" y="5038200"/>
            <a:ext cx="5942160" cy="7560"/>
          </a:xfrm>
          <a:prstGeom prst="rect">
            <a:avLst/>
          </a:prstGeom>
          <a:solidFill>
            <a:srgbClr val="1E2D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25"/>
          <p:cNvSpPr/>
          <p:nvPr/>
        </p:nvSpPr>
        <p:spPr>
          <a:xfrm>
            <a:off x="5669280" y="525780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History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6"/>
          <p:cNvSpPr/>
          <p:nvPr/>
        </p:nvSpPr>
        <p:spPr>
          <a:xfrm>
            <a:off x="7772400" y="5257800"/>
            <a:ext cx="3747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D4FF"/>
                </a:solidFill>
                <a:effectLst/>
                <a:uFillTx/>
                <a:latin typeface="Consolas"/>
              </a:rPr>
              <a:t>/captures/call_history.json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27"/>
          <p:cNvSpPr/>
          <p:nvPr/>
        </p:nvSpPr>
        <p:spPr>
          <a:xfrm>
            <a:off x="5669280" y="5696640"/>
            <a:ext cx="5942160" cy="7560"/>
          </a:xfrm>
          <a:prstGeom prst="rect">
            <a:avLst/>
          </a:prstGeom>
          <a:solidFill>
            <a:srgbClr val="1E2D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28"/>
          <p:cNvSpPr/>
          <p:nvPr/>
        </p:nvSpPr>
        <p:spPr>
          <a:xfrm>
            <a:off x="5669280" y="6217920"/>
            <a:ext cx="5942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github.com/chrisnock-personal/container-sip-endpoint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2026-05-19T21:26:32Z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